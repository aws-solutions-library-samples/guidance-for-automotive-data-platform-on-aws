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DATA GOVERNANCE &amp; COMPLIANCE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EC8DC"/>
                </a:solidFill>
              </a:defRPr>
            </a:pPr>
            <a:r>
              <a:t>Multi-region data governance with fine-grained access control and automated PII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MULTI-REGION ACCOUNT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554480"/>
            <a:ext cx="6400800" cy="14630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6002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Central Governance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74519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Lake Formation — fine-grained access policies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DataZone — federated data catalog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CloudTrail — audit trail for all data access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RAM — cross-account resource sharing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200400" y="3017520"/>
            <a:ext cx="2743200" cy="36576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0" y="3017520"/>
            <a:ext cx="2743200" cy="36576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383280"/>
            <a:ext cx="5943600" cy="18288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EU Producer Account (eu-west-1)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Data residency: EU customer &amp; service data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S3 — EU data lake (encrypted, versioned)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Glue — ETL &amp; catalog for EU datasets</a:t>
            </a:r>
          </a:p>
          <a:p>
            <a:pPr algn="l">
              <a:defRPr sz="1000" b="0">
                <a:solidFill>
                  <a:srgbClr val="F472B6"/>
                </a:solidFill>
              </a:defRPr>
            </a:pPr>
            <a:r>
              <a:t>Macie — automated PII scanning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→ Names, emails, VINs, addresses detected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→ Auto-classification &amp; remediation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383280"/>
            <a:ext cx="5943600" cy="18288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Global Consumer Account (us-east-1)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Aggregated &amp; anonymized views only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Athena — cross-region federated queries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QuickSight — global executive dashboards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Bedrock — AI insights on aggregated data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→ No PII exposed in global views</a:t>
            </a:r>
          </a:p>
          <a:p>
            <a:pPr algn="l">
              <a:defRPr sz="1000" b="0">
                <a:solidFill>
                  <a:srgbClr val="6E7D96"/>
                </a:solidFill>
              </a:defRPr>
            </a:pPr>
            <a:r>
              <a:t>  → Row/column filtering via Lake 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ACCESS CONTROL IN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6675120" cy="10058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Persona: German Service Representative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2648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Query: "Show me customer complaints for Berlin dealers"</a:t>
            </a:r>
          </a:p>
          <a:p>
            <a:pPr algn="l">
              <a:defRPr sz="1000" b="0">
                <a:solidFill>
                  <a:srgbClr val="34D399"/>
                </a:solidFill>
              </a:defRPr>
            </a:pPr>
            <a:r>
              <a:t>→ Lake Formation row filter: region = 'EU-DE'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→ Sees: EU customer data, service history, VIN details</a:t>
            </a:r>
          </a:p>
          <a:p>
            <a:pPr algn="l">
              <a:defRPr sz="1000" b="0">
                <a:solidFill>
                  <a:srgbClr val="F87171"/>
                </a:solidFill>
              </a:defRPr>
            </a:pPr>
            <a:r>
              <a:t>→ Cannot see: US data, global aggregates, financial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5806440"/>
            <a:ext cx="6492240" cy="10058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8521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Persona: Global VP of Customer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1264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Query: "Compare NPS across all regions"</a:t>
            </a:r>
          </a:p>
          <a:p>
            <a:pPr algn="l">
              <a:defRPr sz="1000" b="0">
                <a:solidFill>
                  <a:srgbClr val="FBBF24"/>
                </a:solidFill>
              </a:defRPr>
            </a:pPr>
            <a:r>
              <a:t>→ Lake Formation column filter: no PII columns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→ Sees: Aggregated NPS, trends, regional benchmarks</a:t>
            </a:r>
          </a:p>
          <a:p>
            <a:pPr algn="l">
              <a:defRPr sz="1000" b="0">
                <a:solidFill>
                  <a:srgbClr val="F87171"/>
                </a:solidFill>
              </a:defRPr>
            </a:pPr>
            <a:r>
              <a:t>→ Cannot see: Individual names, emails, addresses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7040880"/>
            <a:ext cx="13533120" cy="50292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EU Data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vehicle data portability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GDPR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right to erasure &amp; minimization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Macie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automated PII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CloudTrail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full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Lake 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row/column ACLs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0" y="70866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Multi-region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0" y="7287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data residency enforced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