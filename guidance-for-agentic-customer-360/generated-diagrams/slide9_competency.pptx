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AWS AUTOMOTIVE COMPETENCY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C8DC"/>
                </a:solidFill>
              </a:defRPr>
            </a:pPr>
            <a:r>
              <a:t>Validated partners with proven expertise across 8 automotive workloads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583680" cy="21945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What is the AWS Automotive Competency?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EC8DC"/>
                </a:solidFill>
              </a:defRPr>
            </a:pPr>
            <a:r>
              <a:t>A rigorous technical validation program that identifies AWS Partners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EC8DC"/>
                </a:solidFill>
              </a:defRPr>
            </a:pPr>
            <a:r>
              <a:t>with demonstrated expertise in automotive-specific cloud solutions.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EC8DC"/>
                </a:solidFill>
              </a:defRPr>
            </a:pPr>
            <a:r>
              <a:t>Partners undergo vetted customer reference reviews and technical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BEC8DC"/>
                </a:solidFill>
              </a:defRPr>
            </a:pPr>
            <a:r>
              <a:t>assessments before earning the competency designation.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Benefits for Partners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06240"/>
            <a:ext cx="2103120" cy="25603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4389120"/>
            <a:ext cx="548640" cy="54864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44622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40679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Partner badge &amp; priority placement in AWS Partner Solutions Finder. Improved co-sell score and direct access to AWS Sales teams.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4206240"/>
            <a:ext cx="2103120" cy="25603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66159" y="4389120"/>
            <a:ext cx="548640" cy="54864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59" y="44622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5074920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Financial Incentives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5440679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Marketing Development Funds (MDF) for go-to-market activities. Migration Acceleration Program (MAP) funding for eligible workloads.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199" y="4206240"/>
            <a:ext cx="2103120" cy="25603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6439" y="4389120"/>
            <a:ext cx="548640" cy="54864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39" y="44622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59" y="5074920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Access to AWS Experts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5440679"/>
            <a:ext cx="182879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AWS PartnerEquip enablement series, GTM Acceleration Workshops, partner-led webinars, and APN Customer Engagements (ACE) program.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8 Automotive Workload Categories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382966" y="2805967"/>
            <a:ext cx="236380" cy="97912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58040" y="3742573"/>
            <a:ext cx="97912" cy="236380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2458040" y="5165046"/>
            <a:ext cx="97912" cy="236380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1382966" y="6240120"/>
            <a:ext cx="236380" cy="97912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9960493" y="6240120"/>
            <a:ext cx="236380" cy="97912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9023887" y="5165046"/>
            <a:ext cx="97912" cy="236380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023887" y="3742573"/>
            <a:ext cx="97912" cy="236380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960493" y="2805967"/>
            <a:ext cx="236380" cy="97912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72700" y="1943100"/>
            <a:ext cx="1234440" cy="123444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18420" y="233172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Autonomous</a:t>
            </a:r>
            <a:br/>
            <a:r>
              <a:t>Mobility</a:t>
            </a:r>
          </a:p>
        </p:txBody>
      </p:sp>
      <p:sp>
        <p:nvSpPr>
          <p:cNvPr id="34" name="Oval 33"/>
          <p:cNvSpPr/>
          <p:nvPr/>
        </p:nvSpPr>
        <p:spPr>
          <a:xfrm>
            <a:off x="11595172" y="2532307"/>
            <a:ext cx="1234440" cy="123444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40892" y="2920927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Software-Defined</a:t>
            </a:r>
            <a:br/>
            <a:r>
              <a:t>Vehicle</a:t>
            </a:r>
          </a:p>
        </p:txBody>
      </p:sp>
      <p:sp>
        <p:nvSpPr>
          <p:cNvPr id="36" name="Oval 35"/>
          <p:cNvSpPr/>
          <p:nvPr/>
        </p:nvSpPr>
        <p:spPr>
          <a:xfrm>
            <a:off x="12184380" y="3954780"/>
            <a:ext cx="1234440" cy="123444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30100" y="43434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Connected</a:t>
            </a:r>
            <a:br/>
            <a:r>
              <a:t>Mobility</a:t>
            </a:r>
          </a:p>
        </p:txBody>
      </p:sp>
      <p:sp>
        <p:nvSpPr>
          <p:cNvPr id="38" name="Oval 37"/>
          <p:cNvSpPr/>
          <p:nvPr/>
        </p:nvSpPr>
        <p:spPr>
          <a:xfrm>
            <a:off x="11595172" y="5377252"/>
            <a:ext cx="1234440" cy="123444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40892" y="5765872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Sustainability</a:t>
            </a:r>
          </a:p>
        </p:txBody>
      </p:sp>
      <p:sp>
        <p:nvSpPr>
          <p:cNvPr id="40" name="Oval 39"/>
          <p:cNvSpPr/>
          <p:nvPr/>
        </p:nvSpPr>
        <p:spPr>
          <a:xfrm>
            <a:off x="10172700" y="5966460"/>
            <a:ext cx="1234440" cy="123444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18420" y="635508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Digital Customer</a:t>
            </a:r>
            <a:br/>
            <a:r>
              <a:t>Experience</a:t>
            </a:r>
          </a:p>
        </p:txBody>
      </p:sp>
      <p:sp>
        <p:nvSpPr>
          <p:cNvPr id="42" name="Oval 41"/>
          <p:cNvSpPr/>
          <p:nvPr/>
        </p:nvSpPr>
        <p:spPr>
          <a:xfrm>
            <a:off x="8750227" y="5377252"/>
            <a:ext cx="1234440" cy="123444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5947" y="5765872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Product</a:t>
            </a:r>
            <a:br/>
            <a:r>
              <a:t>Engineering</a:t>
            </a:r>
          </a:p>
        </p:txBody>
      </p:sp>
      <p:sp>
        <p:nvSpPr>
          <p:cNvPr id="44" name="Oval 43"/>
          <p:cNvSpPr/>
          <p:nvPr/>
        </p:nvSpPr>
        <p:spPr>
          <a:xfrm>
            <a:off x="8161020" y="3954780"/>
            <a:ext cx="1234440" cy="123444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06740" y="4343400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Manufacturing</a:t>
            </a:r>
          </a:p>
        </p:txBody>
      </p:sp>
      <p:sp>
        <p:nvSpPr>
          <p:cNvPr id="46" name="Oval 45"/>
          <p:cNvSpPr/>
          <p:nvPr/>
        </p:nvSpPr>
        <p:spPr>
          <a:xfrm>
            <a:off x="8750227" y="2532307"/>
            <a:ext cx="1234440" cy="1234440"/>
          </a:xfrm>
          <a:prstGeom prst="ellipse">
            <a:avLst/>
          </a:prstGeom>
          <a:solidFill>
            <a:srgbClr val="141C3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5947" y="2920927"/>
            <a:ext cx="1143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Supply</a:t>
            </a:r>
            <a:br/>
            <a:r>
              <a:t>Chain</a:t>
            </a:r>
          </a:p>
        </p:txBody>
      </p:sp>
      <p:sp>
        <p:nvSpPr>
          <p:cNvPr id="48" name="Oval 47"/>
          <p:cNvSpPr/>
          <p:nvPr/>
        </p:nvSpPr>
        <p:spPr>
          <a:xfrm>
            <a:off x="10149840" y="3931920"/>
            <a:ext cx="1280160" cy="1280160"/>
          </a:xfrm>
          <a:prstGeom prst="ellipse">
            <a:avLst/>
          </a:prstGeom>
          <a:solidFill>
            <a:srgbClr val="0E122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4251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AWS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4526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900"/>
                </a:solidFill>
              </a:defRPr>
            </a:pPr>
            <a:r>
              <a:t>Automotive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900"/>
                </a:solidFill>
              </a:defRPr>
            </a:pPr>
            <a:r>
              <a:t>Competency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7040880"/>
            <a:ext cx="13533120" cy="59436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7086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D96"/>
                </a:solidFill>
              </a:defRPr>
            </a:pPr>
            <a:r>
              <a:t>Launch Partners include: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0" y="7205472"/>
            <a:ext cx="1129284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WirelessCar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96612" y="7205472"/>
            <a:ext cx="740664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Sibros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47004" y="7205472"/>
            <a:ext cx="973836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Capgemini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30568" y="7205472"/>
            <a:ext cx="818388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HCLTech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58684" y="7205472"/>
            <a:ext cx="896112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Deloitte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64524" y="7205472"/>
            <a:ext cx="973836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Accenture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48088" y="7205472"/>
            <a:ext cx="507491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TCS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65308" y="7205472"/>
            <a:ext cx="662940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Wipro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237976" y="7205472"/>
            <a:ext cx="818388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Siemens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166092" y="7205472"/>
            <a:ext cx="818388" cy="256032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MongoDB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