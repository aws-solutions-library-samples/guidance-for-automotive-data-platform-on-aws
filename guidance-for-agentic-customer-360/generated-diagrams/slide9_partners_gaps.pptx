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280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9900"/>
                </a:solidFill>
              </a:defRPr>
            </a:pPr>
            <a:r>
              <a:t>PARTNERS THAT COMPLETE THE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280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EC8DC"/>
                </a:solidFill>
              </a:defRPr>
            </a:pPr>
            <a:r>
              <a:t>Specialized capabilities that extend the connected vehicle ecosystem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80160"/>
            <a:ext cx="3246120" cy="20116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Navigation &amp;</a:t>
            </a:r>
            <a:br/>
            <a:r>
              <a:t>HD Maps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385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HERE Technologies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21284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$1B AWS deal · SDV Accelerator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7860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AWS Service: Amazon Location Service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1280160"/>
            <a:ext cx="3246120" cy="20116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60520" y="138988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OTA Updates &amp;</a:t>
            </a:r>
            <a:br/>
            <a:r>
              <a:t>Device Mgmt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19385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Excelfore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21284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20M+ vehicles · AWS Competency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60520" y="257860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AWS Service: AWS IoT Jobs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1280160"/>
            <a:ext cx="3246120" cy="20116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19" y="138988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Vehicle</a:t>
            </a:r>
            <a:br/>
            <a:r>
              <a:t>Cybersecurity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19385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87171"/>
                </a:solidFill>
              </a:defRPr>
            </a:pPr>
            <a:r>
              <a:t>Upstream Security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19" y="221284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XDR platform · UNECE R155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19" y="257860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AWS Service: AWS IoT Device Defender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835640" y="1280160"/>
            <a:ext cx="3246120" cy="20116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018519" y="138988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Predictive</a:t>
            </a:r>
            <a:br/>
            <a:r>
              <a:t>Maintenance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18519" y="193852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</a:defRPr>
            </a:pPr>
            <a:r>
              <a:t>Intangles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18519" y="221284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96% fault prediction · Digital twin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18519" y="257860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AWS Service: Amazon Lookout for Equipment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474720"/>
            <a:ext cx="3246120" cy="20116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58444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PKI &amp; Certificate</a:t>
            </a:r>
            <a:br/>
            <a:r>
              <a:t>Management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1330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8B5CF6"/>
                </a:solidFill>
              </a:defRPr>
            </a:pPr>
            <a:r>
              <a:t>Digicert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440740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Automotive-grade V2X PKI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477316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AWS Service: AWS Private CA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977639" y="3474720"/>
            <a:ext cx="3246120" cy="20116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358444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Digital Twin &amp;</a:t>
            </a:r>
            <a:br/>
            <a:r>
              <a:t>Simulation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41330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472B6"/>
                </a:solidFill>
              </a:defRPr>
            </a:pPr>
            <a:r>
              <a:t>dSPACE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60520" y="440740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AWS Competency · HIL + cloud sim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60520" y="477316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AWS Service: AWS IoT TwinMaker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06640" y="3474720"/>
            <a:ext cx="3246120" cy="20116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89519" y="358444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Content Delivery</a:t>
            </a:r>
            <a:br/>
            <a:r>
              <a:t>for OTA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89519" y="41330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</a:defRPr>
            </a:pPr>
            <a:r>
              <a:t>AWS CloudFront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89519" y="440740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Global edge · signed URLs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19" y="477316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Native AWS — no partner needed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835640" y="3474720"/>
            <a:ext cx="3246120" cy="201168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018519" y="358444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</a:defRPr>
            </a:pPr>
            <a:r>
              <a:t>Fleet Management</a:t>
            </a:r>
            <a:br/>
            <a:r>
              <a:t>&amp; Telematics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018519" y="4133088"/>
            <a:ext cx="2880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4D399"/>
                </a:solidFill>
              </a:defRPr>
            </a:pPr>
            <a:r>
              <a:t>Geotab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018519" y="4407408"/>
            <a:ext cx="2880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EC8DC"/>
                </a:solidFill>
              </a:defRPr>
            </a:pPr>
            <a:r>
              <a:t>4M+ vehicles · open platform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018519" y="4773168"/>
            <a:ext cx="2880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7D96"/>
                </a:solidFill>
              </a:defRPr>
            </a:pPr>
            <a:r>
              <a:t>AWS Service: AWS IoT FleetWise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48640" y="5806440"/>
            <a:ext cx="13533120" cy="457200"/>
          </a:xfrm>
          <a:prstGeom prst="roundRect">
            <a:avLst/>
          </a:prstGeom>
          <a:solidFill>
            <a:srgbClr val="141C34"/>
          </a:solidFill>
          <a:ln w="1905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2960" y="58704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9900"/>
                </a:solidFill>
              </a:defRPr>
            </a:pPr>
            <a:r>
              <a:t>AWS provides the foundation — partners fill the gaps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0" y="589788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EC8DC"/>
                </a:solidFill>
              </a:defRPr>
            </a:pPr>
            <a:r>
              <a:t>Every capability runs on AWS infrastructure · Available on AWS Marketplace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78638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E7D96"/>
                </a:solidFill>
              </a:defRPr>
            </a:pPr>
            <a:r>
              <a:t>© 2026, Amazon Web Services, Inc. or its affiliates.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