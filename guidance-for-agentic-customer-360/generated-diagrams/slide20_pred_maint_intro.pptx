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AHAkgvUBcs.m4a" ContentType="audio/m4a"/>
  <Override PartName="/ppt/media/image10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mazon Ember" charset="1" panose="020B06030202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microsoft.com/office/2007/relationships/media" Target="../media/aAHAkgvUBcs.m4a"/><Relationship Id="rId13" Type="http://schemas.openxmlformats.org/officeDocument/2006/relationships/audio" Target="../media/aAHAkgvUBcs.m4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156"/>
            <a:ext cx="18573750" cy="10291156"/>
          </a:xfrm>
          <a:custGeom>
            <a:avLst/>
            <a:gdLst/>
            <a:ahLst/>
            <a:cxnLst/>
            <a:rect r="r" b="b" t="t" l="l"/>
            <a:pathLst>
              <a:path h="10291156" w="18573750">
                <a:moveTo>
                  <a:pt x="0" y="0"/>
                </a:moveTo>
                <a:lnTo>
                  <a:pt x="18573750" y="0"/>
                </a:lnTo>
                <a:lnTo>
                  <a:pt x="18573750" y="10291156"/>
                </a:lnTo>
                <a:lnTo>
                  <a:pt x="0" y="10291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-789" t="0" r="-7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2940" y="9507007"/>
            <a:ext cx="548640" cy="328241"/>
            <a:chOff x="0" y="0"/>
            <a:chExt cx="731520" cy="4376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1520" cy="437642"/>
            </a:xfrm>
            <a:custGeom>
              <a:avLst/>
              <a:gdLst/>
              <a:ahLst/>
              <a:cxnLst/>
              <a:rect r="r" b="b" t="t" l="l"/>
              <a:pathLst>
                <a:path h="43764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7642"/>
                  </a:lnTo>
                  <a:lnTo>
                    <a:pt x="0" y="437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3" t="0" r="-121" b="-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03063" y="9630442"/>
            <a:ext cx="5579120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F3F3F7"/>
                </a:solidFill>
                <a:latin typeface="Amazon Ember"/>
                <a:ea typeface="Amazon Ember"/>
                <a:cs typeface="Amazon Ember"/>
                <a:sym typeface="Amazon Ember"/>
              </a:rPr>
              <a:t>© 2026, Amazon Web Services, Inc. or its affiliates. All rights reserved. Amazon Confidential and Trademark.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389035" y="9429483"/>
            <a:ext cx="4124325" cy="557212"/>
            <a:chOff x="0" y="0"/>
            <a:chExt cx="5499100" cy="742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3418" cy="747268"/>
            </a:xfrm>
            <a:custGeom>
              <a:avLst/>
              <a:gdLst/>
              <a:ahLst/>
              <a:cxnLst/>
              <a:rect r="r" b="b" t="t" l="l"/>
              <a:pathLst>
                <a:path h="747268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38759"/>
                  </a:lnTo>
                  <a:cubicBezTo>
                    <a:pt x="5503418" y="743458"/>
                    <a:pt x="5499608" y="747268"/>
                    <a:pt x="5494909" y="747268"/>
                  </a:cubicBezTo>
                  <a:lnTo>
                    <a:pt x="8509" y="747268"/>
                  </a:lnTo>
                  <a:cubicBezTo>
                    <a:pt x="3810" y="747268"/>
                    <a:pt x="0" y="743458"/>
                    <a:pt x="0" y="73875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38759"/>
                  </a:lnTo>
                  <a:lnTo>
                    <a:pt x="8509" y="738759"/>
                  </a:lnTo>
                  <a:lnTo>
                    <a:pt x="8509" y="730250"/>
                  </a:lnTo>
                  <a:lnTo>
                    <a:pt x="5494909" y="730250"/>
                  </a:lnTo>
                  <a:lnTo>
                    <a:pt x="5494909" y="738759"/>
                  </a:lnTo>
                  <a:lnTo>
                    <a:pt x="5486400" y="738759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9167" y="410742"/>
            <a:ext cx="16459200" cy="1033120"/>
            <a:chOff x="0" y="0"/>
            <a:chExt cx="21945600" cy="1377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77493"/>
            </a:xfrm>
            <a:custGeom>
              <a:avLst/>
              <a:gdLst/>
              <a:ahLst/>
              <a:cxnLst/>
              <a:rect r="r" b="b" t="t" l="l"/>
              <a:pathLst>
                <a:path h="137749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77493"/>
                  </a:lnTo>
                  <a:lnTo>
                    <a:pt x="0" y="13774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397" r="0" b="-25745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21945600" cy="1320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mazon Ember"/>
                  <a:ea typeface="Amazon Ember"/>
                  <a:cs typeface="Amazon Ember"/>
                  <a:sym typeface="Amazon Ember"/>
                </a:rPr>
                <a:t>Predictive Maintenance: The solution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42943" y="6118549"/>
            <a:ext cx="113392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41B3FF"/>
                </a:solidFill>
                <a:latin typeface="Amazon Ember"/>
                <a:ea typeface="Amazon Ember"/>
                <a:cs typeface="Amazon Ember"/>
                <a:sym typeface="Amazon Ember"/>
              </a:rPr>
              <a:t>DETECT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163" y="6878568"/>
            <a:ext cx="5225796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ML models scan tire telemetry for anomalies 24/7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10741" y="6118549"/>
            <a:ext cx="1876053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41B3FF"/>
                </a:solidFill>
                <a:latin typeface="Amazon Ember"/>
                <a:ea typeface="Amazon Ember"/>
                <a:cs typeface="Amazon Ember"/>
                <a:sym typeface="Amazon Ember"/>
              </a:rPr>
              <a:t>VALIDATE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35865" y="6878568"/>
            <a:ext cx="5225796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Dual-path confirmation: ML scoring + physics-based leak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8174" y="6118549"/>
            <a:ext cx="69458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41B3FF"/>
                </a:solidFill>
                <a:latin typeface="Amazon Ember"/>
                <a:ea typeface="Amazon Ember"/>
                <a:cs typeface="Amazon Ember"/>
                <a:sym typeface="Amazon Ember"/>
              </a:rPr>
              <a:t>PREVENT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52567" y="6878568"/>
            <a:ext cx="5225796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Automated alerts trigger service scheduling before failure</a:t>
            </a:r>
          </a:p>
        </p:txBody>
      </p:sp>
      <p:sp>
        <p:nvSpPr>
          <p:cNvPr name="Freeform 17" id="17" descr="Research outline"/>
          <p:cNvSpPr/>
          <p:nvPr/>
        </p:nvSpPr>
        <p:spPr>
          <a:xfrm flipH="false" flipV="false" rot="0">
            <a:off x="2255711" y="3415687"/>
            <a:ext cx="2552700" cy="2222897"/>
          </a:xfrm>
          <a:custGeom>
            <a:avLst/>
            <a:gdLst/>
            <a:ahLst/>
            <a:cxnLst/>
            <a:rect r="r" b="b" t="t" l="l"/>
            <a:pathLst>
              <a:path h="2222897" w="2552700">
                <a:moveTo>
                  <a:pt x="0" y="0"/>
                </a:moveTo>
                <a:lnTo>
                  <a:pt x="2552700" y="0"/>
                </a:lnTo>
                <a:lnTo>
                  <a:pt x="2552700" y="2222897"/>
                </a:lnTo>
                <a:lnTo>
                  <a:pt x="0" y="2222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418" r="0" b="-7418"/>
            </a:stretch>
          </a:blipFill>
        </p:spPr>
      </p:sp>
      <p:sp>
        <p:nvSpPr>
          <p:cNvPr name="Freeform 18" id="18" descr="Bullseye outline"/>
          <p:cNvSpPr/>
          <p:nvPr/>
        </p:nvSpPr>
        <p:spPr>
          <a:xfrm flipH="false" flipV="false" rot="0">
            <a:off x="7872413" y="3415687"/>
            <a:ext cx="2552700" cy="2222897"/>
          </a:xfrm>
          <a:custGeom>
            <a:avLst/>
            <a:gdLst/>
            <a:ahLst/>
            <a:cxnLst/>
            <a:rect r="r" b="b" t="t" l="l"/>
            <a:pathLst>
              <a:path h="2222897" w="2552700">
                <a:moveTo>
                  <a:pt x="0" y="0"/>
                </a:moveTo>
                <a:lnTo>
                  <a:pt x="2552700" y="0"/>
                </a:lnTo>
                <a:lnTo>
                  <a:pt x="2552700" y="2222897"/>
                </a:lnTo>
                <a:lnTo>
                  <a:pt x="0" y="22228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418" r="0" b="-7418"/>
            </a:stretch>
          </a:blipFill>
        </p:spPr>
      </p:sp>
      <p:sp>
        <p:nvSpPr>
          <p:cNvPr name="Freeform 19" id="19" descr="Lightning bolt outline"/>
          <p:cNvSpPr/>
          <p:nvPr/>
        </p:nvSpPr>
        <p:spPr>
          <a:xfrm flipH="false" flipV="false" rot="0">
            <a:off x="13489115" y="3415687"/>
            <a:ext cx="2552700" cy="2222897"/>
          </a:xfrm>
          <a:custGeom>
            <a:avLst/>
            <a:gdLst/>
            <a:ahLst/>
            <a:cxnLst/>
            <a:rect r="r" b="b" t="t" l="l"/>
            <a:pathLst>
              <a:path h="2222897" w="2552700">
                <a:moveTo>
                  <a:pt x="0" y="0"/>
                </a:moveTo>
                <a:lnTo>
                  <a:pt x="2552700" y="0"/>
                </a:lnTo>
                <a:lnTo>
                  <a:pt x="2552700" y="2222897"/>
                </a:lnTo>
                <a:lnTo>
                  <a:pt x="0" y="22228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418" r="0" b="-741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45922" y="8224641"/>
            <a:ext cx="1100569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"Predict failures 7-14 days out—not after the breakdown"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98321" y="1689950"/>
            <a:ext cx="12100893" cy="773909"/>
            <a:chOff x="0" y="0"/>
            <a:chExt cx="16134524" cy="10318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134524" cy="1031879"/>
            </a:xfrm>
            <a:custGeom>
              <a:avLst/>
              <a:gdLst/>
              <a:ahLst/>
              <a:cxnLst/>
              <a:rect r="r" b="b" t="t" l="l"/>
              <a:pathLst>
                <a:path h="1031879" w="16134524">
                  <a:moveTo>
                    <a:pt x="0" y="0"/>
                  </a:moveTo>
                  <a:lnTo>
                    <a:pt x="16134524" y="0"/>
                  </a:lnTo>
                  <a:lnTo>
                    <a:pt x="16134524" y="1031879"/>
                  </a:lnTo>
                  <a:lnTo>
                    <a:pt x="0" y="10318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780" r="0" b="-3875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16134524" cy="98425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FFFF"/>
                  </a:solidFill>
                  <a:latin typeface="Amazon Ember"/>
                  <a:ea typeface="Amazon Ember"/>
                  <a:cs typeface="Amazon Ember"/>
                  <a:sym typeface="Amazon Ember"/>
                </a:rPr>
                <a:t>"Maintenance Schedules Are Reactive—Tire Failures Shouldn't Be"</a:t>
              </a:r>
            </a:p>
          </p:txBody>
        </p:sp>
      </p:grpSp>
      <p:pic>
        <p:nvPicPr>
          <p:cNvPr name="Picture 24" id="24">
            <a:hlinkClick action="ppaction://media"/>
          </p:cNvPr>
          <p:cNvPicPr>
            <a:picLocks noChangeAspect="true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24"/>
                </p:tgtEl>
              </p:cBhvr>
            </p:cmd>
            <p:audio>
              <p:cMediaNode vol="80000" showWhenStopped="false">
                <p:cTn/>
                <p:tgtEl>
                  <p:spTgt spid="2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DAHA2tQNKKM</dc:identifier>
  <dcterms:modified xsi:type="dcterms:W3CDTF">2011-08-01T06:04:30Z</dcterms:modified>
  <cp:revision>1</cp:revision>
  <dc:title>CVx-FCD-2026.pptx</dc:title>
</cp:coreProperties>
</file>