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CONNECTED VEHICLE PARTNER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Validated partner solutions at every layer — choose what works for your business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End-to-End Connected Vehicle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7D96"/>
                </a:solidFill>
              </a:defRPr>
            </a:pPr>
            <a:r>
              <a:t>Turnkey platforms spanning the full stack — for OEMs who want a single partner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4389120" cy="1737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WirelessCar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4D399"/>
                </a:solidFill>
              </a:defRPr>
            </a:pPr>
            <a:r>
              <a:t>11M+ vehicles in 100+ countries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8803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Full connectivity, journey intelligence, safety, security, and EV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599" y="3383280"/>
            <a:ext cx="1143000" cy="292608"/>
          </a:xfrm>
          <a:prstGeom prst="roundRect">
            <a:avLst/>
          </a:prstGeom>
          <a:solidFill>
            <a:srgbClr val="082319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34D399"/>
                </a:solidFill>
              </a:defRPr>
            </a:pPr>
            <a:r>
              <a:t>Full Stack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011680"/>
            <a:ext cx="4389120" cy="1737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Sibros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514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8BDF8"/>
                </a:solidFill>
              </a:defRPr>
            </a:pPr>
            <a:r>
              <a:t>Deep Connected Platform on AWS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8803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OTA updates, telematics, remote commands, and fleet-wide data 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599" y="3383280"/>
            <a:ext cx="1143000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38BDF8"/>
                </a:solidFill>
              </a:defRPr>
            </a:pPr>
            <a:r>
              <a:t>Full Stack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011680"/>
            <a:ext cx="4389120" cy="173736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214884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Excelfore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514600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5CF6"/>
                </a:solidFill>
              </a:defRPr>
            </a:pPr>
            <a:r>
              <a:t>20M+ vehicles, AWS Automotive Competency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21240" y="288036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OTA, diagnostics, data aggregation, edge AI, and connected mobility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2801599" y="3383280"/>
            <a:ext cx="1143000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>
                <a:solidFill>
                  <a:srgbClr val="8B5CF6"/>
                </a:solidFill>
              </a:defRPr>
            </a:pPr>
            <a:r>
              <a:t>Full Stack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977639"/>
            <a:ext cx="13533120" cy="0"/>
          </a:xfrm>
          <a:prstGeom prst="line">
            <a:avLst/>
          </a:prstGeom>
          <a:ln w="12700">
            <a:solidFill>
              <a:srgbClr val="232D4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41148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Platform Components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80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E7D96"/>
                </a:solidFill>
              </a:defRPr>
            </a:pPr>
            <a:r>
              <a:t>Best-of-breed partners at each layer — for OEMs building their own stack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85800" y="4901183"/>
            <a:ext cx="201168" cy="201168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8737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Cellular Connectivity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892040"/>
            <a:ext cx="1389888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Cubic Telecom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16168" y="4892040"/>
            <a:ext cx="1389888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KORE Wireless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43216" y="4892040"/>
            <a:ext cx="731519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Eseye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0" y="4892040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285231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5340095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53126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Device Connectivity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5330951"/>
            <a:ext cx="649224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EMQX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75504" y="5330951"/>
            <a:ext cx="813816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HiveMQ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5330951"/>
            <a:ext cx="1143000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ClearBlade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2344400" y="5330951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8640" y="5724144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5800" y="5779007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51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Event Streaming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89120" y="5769864"/>
            <a:ext cx="1060704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Confluent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586983" y="5769864"/>
            <a:ext cx="978407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Redpanda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344400" y="5769864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6163056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85800" y="6217920"/>
            <a:ext cx="201168" cy="201168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61904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Stream Processing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89120" y="6208776"/>
            <a:ext cx="1143000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Databricks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79" y="6208776"/>
            <a:ext cx="1060704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Decodable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67143" y="6208776"/>
            <a:ext cx="813816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Striim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344400" y="6208776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48640" y="6601968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5800" y="6656831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6629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Data &amp; Analytics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89120" y="6647688"/>
            <a:ext cx="1143000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Databricks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79" y="6647688"/>
            <a:ext cx="1060704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Snowflake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867143" y="6647688"/>
            <a:ext cx="978407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Teradata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2344400" y="6647688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48640" y="7040879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85800" y="7095743"/>
            <a:ext cx="201168" cy="201168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60120" y="70683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Customer Engagement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89120" y="7086599"/>
            <a:ext cx="1143000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Salesforce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79" y="7086599"/>
            <a:ext cx="896112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Genesys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702551" y="7086599"/>
            <a:ext cx="896112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Zendesk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344400" y="7086599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48640" y="7479792"/>
            <a:ext cx="13533120" cy="384048"/>
          </a:xfrm>
          <a:prstGeom prst="roundRect">
            <a:avLst/>
          </a:prstGeom>
          <a:solidFill>
            <a:srgbClr val="14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85800" y="7534656"/>
            <a:ext cx="201168" cy="20116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60120" y="750722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Observability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389120" y="7525512"/>
            <a:ext cx="896112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Datadog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422392" y="7525512"/>
            <a:ext cx="813816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Splunk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373368" y="7525512"/>
            <a:ext cx="1060704" cy="292608"/>
          </a:xfrm>
          <a:prstGeom prst="roundRect">
            <a:avLst/>
          </a:prstGeom>
          <a:solidFill>
            <a:srgbClr val="170F29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8B5CF6"/>
                </a:solidFill>
              </a:defRPr>
            </a:pPr>
            <a:r>
              <a:t>Dynatrace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2344400" y="7525512"/>
            <a:ext cx="1225295" cy="292608"/>
          </a:xfrm>
          <a:prstGeom prst="roundRect">
            <a:avLst/>
          </a:prstGeom>
          <a:solidFill>
            <a:srgbClr val="091F29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>
                <a:solidFill>
                  <a:srgbClr val="38BDF8"/>
                </a:solidFill>
              </a:defRPr>
            </a:pPr>
            <a:r>
              <a:t>Marketplace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