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THE CONNECTED VEHICLE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EC8DC"/>
                </a:solidFill>
              </a:defRPr>
            </a:pPr>
            <a:r>
              <a:t>Why connected vehicle platforms matter more than ever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200400" cy="1371600"/>
          </a:xfrm>
          <a:prstGeom prst="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38BDF8"/>
                </a:solidFill>
              </a:defRPr>
            </a:pPr>
            <a:r>
              <a:t>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of new vehicles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connected by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E7D96"/>
                </a:solidFill>
              </a:defRPr>
            </a:pPr>
            <a:r>
              <a:t>Source: McKinsey</a:t>
            </a:r>
          </a:p>
        </p:txBody>
      </p:sp>
      <p:sp>
        <p:nvSpPr>
          <p:cNvPr id="9" name="Rectangle 8"/>
          <p:cNvSpPr/>
          <p:nvPr/>
        </p:nvSpPr>
        <p:spPr>
          <a:xfrm>
            <a:off x="3995928" y="1371600"/>
            <a:ext cx="3200400" cy="1371600"/>
          </a:xfrm>
          <a:prstGeom prst="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8" y="1417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34D399"/>
                </a:solidFill>
              </a:defRPr>
            </a:pPr>
            <a:r>
              <a:t>470M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8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connected cars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8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on the road by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E7D96"/>
                </a:solidFill>
              </a:defRPr>
            </a:pPr>
            <a:r>
              <a:t>Source: Statista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43216" y="1371600"/>
            <a:ext cx="3200400" cy="1371600"/>
          </a:xfrm>
          <a:prstGeom prst="rect">
            <a:avLst/>
          </a:prstGeom>
          <a:solidFill>
            <a:srgbClr val="141C34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6096" y="1417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9900"/>
                </a:solidFill>
              </a:defRPr>
            </a:pPr>
            <a:r>
              <a:t>$100B+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connected car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market by 2030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E7D96"/>
                </a:solidFill>
              </a:defRPr>
            </a:pPr>
            <a:r>
              <a:t>Source: McKinsey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90504" y="1371600"/>
            <a:ext cx="3200400" cy="1371600"/>
          </a:xfrm>
          <a:prstGeom prst="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73384" y="1417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BBF24"/>
                </a:solidFill>
              </a:defRPr>
            </a:pPr>
            <a:r>
              <a:t>25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73384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of data per vehicle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73384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per hour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73384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E7D96"/>
                </a:solidFill>
              </a:defRPr>
            </a:pPr>
            <a:r>
              <a:t>Source: Intel / Frost &amp; Sullivan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17520"/>
            <a:ext cx="4297680" cy="2103120"/>
          </a:xfrm>
          <a:prstGeom prst="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08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Gen 1: Basic Telematics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520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→  One-way data uploads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8679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→  Reactive diagnostics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1538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→  Siloed on-prem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6285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→  Manual fleet monitoring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93208" y="3017520"/>
            <a:ext cx="4297680" cy="2103120"/>
          </a:xfrm>
          <a:prstGeom prst="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6088" y="3108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Gen 2: Cloud-Connected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6088" y="3520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→  Real-time bi-directional streaming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38679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→  OTA software updates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76088" y="421538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→  Cloud-hosted but self-managed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76088" y="456285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→  Custom-built data pipelines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37776" y="3017520"/>
            <a:ext cx="4297680" cy="2103120"/>
          </a:xfrm>
          <a:prstGeom prst="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0656" y="3108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Gen 3: Cloud-Native &amp; AI-Enabled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0656" y="3520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→  Fully managed services (zero ops)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0656" y="38679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→  Real-time stream processing at 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0656" y="421538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→  AI/ML-driven predictions &amp; automation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0656" y="456285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→  Agentic AI across vehicle lifecycle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94960"/>
            <a:ext cx="13533120" cy="1371600"/>
          </a:xfrm>
          <a:prstGeom prst="rect">
            <a:avLst/>
          </a:prstGeom>
          <a:solidFill>
            <a:srgbClr val="141C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4681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WHAT'S HOLDING YOU AT GEN 2?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897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📈  Scaling Ceiling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897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EC8DC"/>
                </a:solidFill>
              </a:defRPr>
            </a:pPr>
            <a:r>
              <a:t>10x fleet growth — self-managed infra hits limits at millions of vehicles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5897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🔧  Ops Burden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5897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EC8DC"/>
                </a:solidFill>
              </a:defRPr>
            </a:pPr>
            <a:r>
              <a:t>70% of eng time on infrastructure — not building differentiating features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2819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💰  Cost Doesn't Scale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62819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EC8DC"/>
                </a:solidFill>
              </a:defRPr>
            </a:pPr>
            <a:r>
              <a:t>Linear cost growth with fleet — no economies of scale on self-managed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62819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⚡  Innovation Gap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62819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EC8DC"/>
                </a:solidFill>
              </a:defRPr>
            </a:pPr>
            <a:r>
              <a:t>Competitors ship in weeks on managed services — you're waiting on infra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7040880"/>
            <a:ext cx="13533120" cy="365760"/>
          </a:xfrm>
          <a:prstGeom prst="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70683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EC8DC"/>
                </a:solidFill>
              </a:defRPr>
            </a:pPr>
            <a:r>
              <a:t>The path from Gen 2 to Gen 3 isn't a rewrite 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7068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9900"/>
                </a:solidFill>
              </a:defRPr>
            </a:pPr>
            <a:r>
              <a:t>it's a migration to managed services.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