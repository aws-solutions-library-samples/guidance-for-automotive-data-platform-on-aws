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9900"/>
                </a:solidFill>
              </a:defRPr>
            </a:pPr>
            <a:r>
              <a:t>DATA MESH FOUNDATION —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280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EC8DC"/>
                </a:solidFill>
              </a:defRPr>
            </a:pPr>
            <a:r>
              <a:t>SageMaker Unified Studio (DataZone V2) — federated catalog, domain ownership, governed self-service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7772400" cy="5029200"/>
          </a:xfrm>
          <a:prstGeom prst="roundRect">
            <a:avLst/>
          </a:prstGeom>
          <a:solidFill>
            <a:srgbClr val="12182D"/>
          </a:solidFill>
          <a:ln w="19050">
            <a:solidFill>
              <a:srgbClr val="FF99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429000"/>
            <a:ext cx="7406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9900"/>
                </a:solidFill>
              </a:defRPr>
            </a:pPr>
            <a:r>
              <a:t>← INSERT ARCHITECTURE DIAGRAM 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0515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900"/>
                </a:solidFill>
              </a:defRPr>
            </a:pPr>
            <a:r>
              <a:t>UNIFIED STUDIO DOMAIN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0" y="1298448"/>
            <a:ext cx="2926080" cy="1828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137160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Domain: automotive-data-platform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DataZone V2 with IAM Identity Center (SSO)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Automatic user assignment · Portal URL for web access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6E7D96"/>
                </a:solidFill>
              </a:defRPr>
            </a:pPr>
            <a:r>
              <a:t>DomainExecutionRole trusts: DataZone, SageMaker,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6E7D96"/>
                </a:solidFill>
              </a:defRPr>
            </a:pPr>
            <a:r>
              <a:t>Lake Formation, Glue — scoped to account resources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26517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</a:defRPr>
            </a:pPr>
            <a:r>
              <a:t>BLUEPRINTS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0" y="2898648"/>
            <a:ext cx="1371600" cy="1828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0" y="297180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EC8DC"/>
                </a:solidFill>
              </a:defRPr>
            </a:pPr>
            <a:r>
              <a:t>ML Analysis — SageMaker notebooks &amp; training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Tooling — Glue ETL, Athena queries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Redshift — data warehouse analytics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EMR — big data processing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Bedrock — generative AI workloads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42519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D399"/>
                </a:solidFill>
              </a:defRPr>
            </a:pPr>
            <a:r>
              <a:t>INFRASTRUCTURE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0" y="4498848"/>
            <a:ext cx="1828800" cy="1828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0" y="457200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EC8DC"/>
                </a:solidFill>
              </a:defRPr>
            </a:pPr>
            <a:r>
              <a:t>VPC (10.0.0.0/16) · 3 private subnets across AZs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NAT Gateway · VPC endpoints (S3, Glue, SageMaker, Athena)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Encrypted S3 buckets (versioned, access-logged)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6E7D96"/>
                </a:solidFill>
              </a:defRPr>
            </a:pPr>
            <a:r>
              <a:t>Glue database for federated catalog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566928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5CF6"/>
                </a:solidFill>
              </a:defRPr>
            </a:pPr>
            <a:r>
              <a:t>DATA PUBLISHING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5916168"/>
            <a:ext cx="1828800" cy="1828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0" y="598932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EC8DC"/>
                </a:solidFill>
              </a:defRPr>
            </a:pPr>
            <a:r>
              <a:t>Glue databases → DataZone discovery job → accept assets → publish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Assets: Customer 360, vehicle telemetry, tire prediction, sales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6E7D96"/>
                </a:solidFill>
              </a:defRPr>
            </a:pPr>
            <a:r>
              <a:t>Searchable catalog with lineage tracking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7086600"/>
            <a:ext cx="13533120" cy="1828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7178040"/>
            <a:ext cx="1353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9900"/>
                </a:solidFill>
              </a:defRPr>
            </a:pPr>
            <a:r>
              <a:t>DataZone V2  ·  SSO (IAM Identity Center)  ·  5 blueprints  ·  3-AZ VPC  ·  Federated Glue catalog  ·  CloudFormation IaC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7863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7D96"/>
                </a:solidFill>
              </a:defRPr>
            </a:pPr>
            <a:r>
              <a:t>© 2026, Amazon Web Services, Inc. or its affiliates. All rights reserved.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