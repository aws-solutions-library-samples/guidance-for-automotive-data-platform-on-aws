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aAHAkgvUBcs.m4a" ContentType="audio/m4a"/>
  <Override PartName="/ppt/media/image11.svg" ContentType="image/svg+xml"/>
  <Override PartName="/ppt/media/image13.svg" ContentType="image/svg+xml"/>
  <Override PartName="/ppt/media/image15.svg" ContentType="image/svg+xml"/>
  <Override PartName="/ppt/media/image16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mazon Ember" charset="1" panose="020B0603020204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svg"/><Relationship Id="rId13" Type="http://schemas.openxmlformats.org/officeDocument/2006/relationships/image" Target="../media/image12.png"/><Relationship Id="rId14" Type="http://schemas.openxmlformats.org/officeDocument/2006/relationships/image" Target="../media/image13.svg"/><Relationship Id="rId15" Type="http://schemas.openxmlformats.org/officeDocument/2006/relationships/image" Target="../media/image14.png"/><Relationship Id="rId16" Type="http://schemas.openxmlformats.org/officeDocument/2006/relationships/image" Target="../media/image15.svg"/><Relationship Id="rId17" Type="http://schemas.openxmlformats.org/officeDocument/2006/relationships/image" Target="../media/image16.svg"/><Relationship Id="rId18" Type="http://schemas.microsoft.com/office/2007/relationships/media" Target="../media/aAHAkgvUBcs.m4a"/><Relationship Id="rId19" Type="http://schemas.openxmlformats.org/officeDocument/2006/relationships/audio" Target="../media/aAHAkgvUBcs.m4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156"/>
            <a:ext cx="18573750" cy="10291156"/>
          </a:xfrm>
          <a:custGeom>
            <a:avLst/>
            <a:gdLst/>
            <a:ahLst/>
            <a:cxnLst/>
            <a:rect r="r" b="b" t="t" l="l"/>
            <a:pathLst>
              <a:path h="10291156" w="18573750">
                <a:moveTo>
                  <a:pt x="0" y="0"/>
                </a:moveTo>
                <a:lnTo>
                  <a:pt x="18573750" y="0"/>
                </a:lnTo>
                <a:lnTo>
                  <a:pt x="18573750" y="10291156"/>
                </a:lnTo>
                <a:lnTo>
                  <a:pt x="0" y="10291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-789" t="0" r="-78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70904" y="299398"/>
            <a:ext cx="2283696" cy="440484"/>
            <a:chOff x="0" y="0"/>
            <a:chExt cx="6592506" cy="12715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9257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592570">
                  <a:moveTo>
                    <a:pt x="0" y="0"/>
                  </a:moveTo>
                  <a:lnTo>
                    <a:pt x="6592570" y="0"/>
                  </a:lnTo>
                  <a:lnTo>
                    <a:pt x="6592570" y="1271524"/>
                  </a:lnTo>
                  <a:lnTo>
                    <a:pt x="0" y="1271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0" b="-3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506796" y="1517332"/>
            <a:ext cx="17247804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46115" y="9628194"/>
            <a:ext cx="548640" cy="328241"/>
            <a:chOff x="0" y="0"/>
            <a:chExt cx="731520" cy="4376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" cy="437642"/>
            </a:xfrm>
            <a:custGeom>
              <a:avLst/>
              <a:gdLst/>
              <a:ahLst/>
              <a:cxnLst/>
              <a:rect r="r" b="b" t="t" l="l"/>
              <a:pathLst>
                <a:path h="43764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7642"/>
                  </a:lnTo>
                  <a:lnTo>
                    <a:pt x="0" y="437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" t="0" r="-15" b="-2"/>
              </a:stretch>
            </a:blip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935868" y="462915"/>
            <a:ext cx="20471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t>4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86665" y="337498"/>
            <a:ext cx="13409575" cy="59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t>BRINGING IT ALL TOGETHER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86665" y="866708"/>
            <a:ext cx="16090572" cy="481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t>From fragmented silos to a unified automotive data platform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56238" y="9751628"/>
            <a:ext cx="572306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F3F3F7"/>
                </a:solidFill>
                <a:latin typeface="Amazon Ember"/>
                <a:ea typeface="Amazon Ember"/>
                <a:cs typeface="Amazon Ember"/>
                <a:sym typeface="Amazon Ember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280160" y="1828800"/>
            <a:ext cx="2560320" cy="8229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71600" y="196596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CRM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343400" y="1828800"/>
            <a:ext cx="2560320" cy="8229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34840" y="196596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DMS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406640" y="1828800"/>
            <a:ext cx="2560320" cy="8229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98079" y="196596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Telemetry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469880" y="1828800"/>
            <a:ext cx="2560320" cy="8229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1319" y="196596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3533119" y="1828800"/>
            <a:ext cx="2560320" cy="8229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624559" y="196596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Contact Center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560320" y="2651760"/>
            <a:ext cx="0" cy="457200"/>
          </a:xfrm>
          <a:prstGeom prst="line">
            <a:avLst/>
          </a:prstGeom>
          <a:ln w="1905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623560" y="2651760"/>
            <a:ext cx="0" cy="457200"/>
          </a:xfrm>
          <a:prstGeom prst="line">
            <a:avLst/>
          </a:prstGeom>
          <a:ln w="1905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686800" y="2651760"/>
            <a:ext cx="0" cy="457200"/>
          </a:xfrm>
          <a:prstGeom prst="line">
            <a:avLst/>
          </a:prstGeom>
          <a:ln w="1905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750040" y="2651760"/>
            <a:ext cx="0" cy="457200"/>
          </a:xfrm>
          <a:prstGeom prst="line">
            <a:avLst/>
          </a:prstGeom>
          <a:ln w="1905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4813280" y="2651760"/>
            <a:ext cx="0" cy="457200"/>
          </a:xfrm>
          <a:prstGeom prst="line">
            <a:avLst/>
          </a:prstGeom>
          <a:ln w="19050">
            <a:solidFill>
              <a:srgbClr val="6E7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914400" y="3108960"/>
            <a:ext cx="16459200" cy="6400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88720" y="31821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Data Ingestion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0" y="3182112"/>
            <a:ext cx="1234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EC8DC"/>
                </a:solidFill>
              </a:defRPr>
            </a:pPr>
            <a:r>
              <a:t>IoT Core (MQTT)  ·  Amazon MSK (Kafka)  ·  Kinesis  ·  API Gateway  ·  Glue ETL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88720" y="3456432"/>
            <a:ext cx="1554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Real-time streaming, near-real-time APIs, and batch processing into a unified data lake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144000" y="3749039"/>
            <a:ext cx="0" cy="411481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914400" y="4160520"/>
            <a:ext cx="16459200" cy="329184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88720" y="4251959"/>
            <a:ext cx="1554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</a:defRPr>
            </a:pPr>
            <a:r>
              <a:t>Automotive Data Platform on AWS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371600" y="4663440"/>
            <a:ext cx="3566160" cy="2560320"/>
          </a:xfrm>
          <a:prstGeom prst="roundRect">
            <a:avLst/>
          </a:prstGeom>
          <a:solidFill>
            <a:srgbClr val="0E12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788920" y="4800600"/>
            <a:ext cx="731520" cy="731520"/>
          </a:xfrm>
          <a:prstGeom prst="ellipse">
            <a:avLst/>
          </a:prstGeom>
          <a:solidFill>
            <a:srgbClr val="1923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88920" y="4892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?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08760" y="562355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Customer 360</a:t>
            </a:r>
            <a:br/>
            <a:r>
              <a:t>Analytics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08760" y="6217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EC8DC"/>
                </a:solidFill>
              </a:defRPr>
            </a:pPr>
            <a:r>
              <a:t>Bedrock Agent · QuickSight</a:t>
            </a:r>
            <a:br/>
            <a:r>
              <a:t>Aurora pgvector · Athena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08760" y="6858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E7D96"/>
                </a:solidFill>
              </a:defRPr>
            </a:pPr>
            <a:r>
              <a:t>← Add Bedrock icon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212080" y="4663440"/>
            <a:ext cx="3566160" cy="2560320"/>
          </a:xfrm>
          <a:prstGeom prst="roundRect">
            <a:avLst/>
          </a:prstGeom>
          <a:solidFill>
            <a:srgbClr val="0E122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629400" y="4800600"/>
            <a:ext cx="731520" cy="731520"/>
          </a:xfrm>
          <a:prstGeom prst="ellipse">
            <a:avLst/>
          </a:prstGeom>
          <a:solidFill>
            <a:srgbClr val="19233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29400" y="4892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?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49240" y="562355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Predictive</a:t>
            </a:r>
            <a:br/>
            <a:r>
              <a:t>Maintenance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49240" y="6217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EC8DC"/>
                </a:solidFill>
              </a:defRPr>
            </a:pPr>
            <a:r>
              <a:t>SageMaker · IoT FleetWise</a:t>
            </a:r>
            <a:br/>
            <a:r>
              <a:t>Glue ETL · Step Functions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49240" y="6858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E7D96"/>
                </a:solidFill>
              </a:defRPr>
            </a:pPr>
            <a:r>
              <a:t>← Add SageMaker icon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052560" y="4663440"/>
            <a:ext cx="3566160" cy="2560320"/>
          </a:xfrm>
          <a:prstGeom prst="roundRect">
            <a:avLst/>
          </a:prstGeom>
          <a:solidFill>
            <a:srgbClr val="0E1220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469880" y="4800600"/>
            <a:ext cx="731520" cy="731520"/>
          </a:xfrm>
          <a:prstGeom prst="ellipse">
            <a:avLst/>
          </a:prstGeom>
          <a:solidFill>
            <a:srgbClr val="19233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469880" y="4892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</a:defRPr>
            </a:pPr>
            <a:r>
              <a:t>?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89720" y="562355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Mesh</a:t>
            </a:r>
            <a:br/>
            <a:r>
              <a:t>Foundation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89720" y="6217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EC8DC"/>
                </a:solidFill>
              </a:defRPr>
            </a:pPr>
            <a:r>
              <a:t>SageMaker Unified Studio</a:t>
            </a:r>
            <a:br/>
            <a:r>
              <a:t>DataZone · Glue Catalog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89720" y="6858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E7D96"/>
                </a:solidFill>
              </a:defRPr>
            </a:pPr>
            <a:r>
              <a:t>← Add DataZone icon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2893040" y="4663440"/>
            <a:ext cx="3566160" cy="2560320"/>
          </a:xfrm>
          <a:prstGeom prst="roundRect">
            <a:avLst/>
          </a:prstGeom>
          <a:solidFill>
            <a:srgbClr val="0E1220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4310360" y="4800600"/>
            <a:ext cx="731520" cy="731520"/>
          </a:xfrm>
          <a:prstGeom prst="ellipse">
            <a:avLst/>
          </a:prstGeom>
          <a:solidFill>
            <a:srgbClr val="19233C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4310360" y="4892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72B6"/>
                </a:solidFill>
              </a:defRPr>
            </a:pPr>
            <a:r>
              <a:t>?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030200" y="562355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</a:t>
            </a:r>
            <a:br/>
            <a:r>
              <a:t>Governance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030200" y="6217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EC8DC"/>
                </a:solidFill>
              </a:defRPr>
            </a:pPr>
            <a:r>
              <a:t>Lake Formation · Macie</a:t>
            </a:r>
            <a:br/>
            <a:r>
              <a:t>CloudTrail · IAM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030200" y="6858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E7D96"/>
                </a:solidFill>
              </a:defRPr>
            </a:pPr>
            <a:r>
              <a:t>← Add Lake Formation icon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144000" y="7452360"/>
            <a:ext cx="0" cy="32004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2834640" y="7772400"/>
            <a:ext cx="640080" cy="640080"/>
          </a:xfrm>
          <a:prstGeom prst="ellipse">
            <a:avLst/>
          </a:prstGeom>
          <a:solidFill>
            <a:srgbClr val="0E12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834640" y="78455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?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71600" y="8503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Proactive</a:t>
            </a:r>
            <a:br/>
            <a:r>
              <a:t>Retention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371600" y="8961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E7D96"/>
                </a:solidFill>
              </a:defRPr>
            </a:pPr>
            <a:r>
              <a:t>Identify at-risk customers</a:t>
            </a:r>
            <a:br/>
            <a:r>
              <a:t>before they churn</a:t>
            </a:r>
          </a:p>
        </p:txBody>
      </p:sp>
      <p:sp>
        <p:nvSpPr>
          <p:cNvPr id="119" name="Oval 118"/>
          <p:cNvSpPr/>
          <p:nvPr/>
        </p:nvSpPr>
        <p:spPr>
          <a:xfrm>
            <a:off x="6675120" y="7772400"/>
            <a:ext cx="640080" cy="640080"/>
          </a:xfrm>
          <a:prstGeom prst="ellipse">
            <a:avLst/>
          </a:prstGeom>
          <a:solidFill>
            <a:srgbClr val="0E122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675120" y="78455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?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2080" y="8503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Predictive</a:t>
            </a:r>
            <a:br/>
            <a:r>
              <a:t>Service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212080" y="8961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E7D96"/>
                </a:solidFill>
              </a:defRPr>
            </a:pPr>
            <a:r>
              <a:t>7-14 day advance warning</a:t>
            </a:r>
            <a:br/>
            <a:r>
              <a:t>of failures</a:t>
            </a:r>
          </a:p>
        </p:txBody>
      </p:sp>
      <p:sp>
        <p:nvSpPr>
          <p:cNvPr id="123" name="Oval 122"/>
          <p:cNvSpPr/>
          <p:nvPr/>
        </p:nvSpPr>
        <p:spPr>
          <a:xfrm>
            <a:off x="10515600" y="7772400"/>
            <a:ext cx="640080" cy="640080"/>
          </a:xfrm>
          <a:prstGeom prst="ellipse">
            <a:avLst/>
          </a:prstGeom>
          <a:solidFill>
            <a:srgbClr val="0E1220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15600" y="78455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</a:defRPr>
            </a:pPr>
            <a:r>
              <a:t>?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52560" y="8503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AI-Powered</a:t>
            </a:r>
            <a:br/>
            <a:r>
              <a:t>Insights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52560" y="8961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E7D96"/>
                </a:solidFill>
              </a:defRPr>
            </a:pPr>
            <a:r>
              <a:t>Natural language queries</a:t>
            </a:r>
            <a:br/>
            <a:r>
              <a:t>across all data</a:t>
            </a:r>
          </a:p>
        </p:txBody>
      </p:sp>
      <p:sp>
        <p:nvSpPr>
          <p:cNvPr id="127" name="Oval 126"/>
          <p:cNvSpPr/>
          <p:nvPr/>
        </p:nvSpPr>
        <p:spPr>
          <a:xfrm>
            <a:off x="14356080" y="7772400"/>
            <a:ext cx="640080" cy="640080"/>
          </a:xfrm>
          <a:prstGeom prst="ellipse">
            <a:avLst/>
          </a:prstGeom>
          <a:solidFill>
            <a:srgbClr val="0E1220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356080" y="78455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72B6"/>
                </a:solidFill>
              </a:defRPr>
            </a:pPr>
            <a:r>
              <a:t>?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893040" y="8503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Compliant</a:t>
            </a:r>
            <a:br/>
            <a:r>
              <a:t>Data Sharing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893040" y="8961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E7D96"/>
                </a:solidFill>
              </a:defRPr>
            </a:pPr>
            <a:r>
              <a:t>EU Data Act + GDPR</a:t>
            </a:r>
            <a:br/>
            <a:r>
              <a:t>built in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76"/>
                </p:tgtEl>
              </p:cBhvr>
            </p:cmd>
            <p:audio>
              <p:cMediaNode vol="80000" showWhenStopped="false">
                <p:cTn/>
                <p:tgtEl>
                  <p:spTgt spid="7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DAHA2tQNKKM</dc:identifier>
  <dcterms:modified xsi:type="dcterms:W3CDTF">2011-08-01T06:04:30Z</dcterms:modified>
  <cp:revision>1</cp:revision>
  <dc:title>CVx-FCD-2026.pptx</dc:title>
</cp:coreProperties>
</file>