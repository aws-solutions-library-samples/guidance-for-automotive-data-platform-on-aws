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PREDICTIVE MAINTENANCE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EC8DC"/>
                </a:solidFill>
              </a:defRPr>
            </a:pPr>
            <a:r>
              <a:t>ML-based tire failure prediction with 7-14 day advance warning using dual-path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7955279" cy="7315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IoT Core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258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MQTT protocol · Tire pressure · Tread depth · Temperature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Vehicle TCU → IoT Core → IoT Rules Engine → Kinesis Data Streams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26280" y="2011680"/>
            <a:ext cx="0" cy="22860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2240280"/>
            <a:ext cx="7955279" cy="73152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Glue ETL · S3 Feature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Rolling averages · Rate of change · Seasonal adjustments · Fleet baselines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26280" y="2971800"/>
            <a:ext cx="0" cy="2286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200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DUAL-PATH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794760" cy="12801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</a:defRPr>
            </a:pPr>
            <a:r>
              <a:t>ML Anomaly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SageMaker Random Cut Forest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Unsupervised anomaly scoring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Multi-variate time series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Anomaly score threshold: 3σ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Trained on 12 months fleet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474720"/>
            <a:ext cx="3794760" cy="12801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35204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Physics-Based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94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Statistical validation layer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Pressure decay rate &gt; 0.5 psi/day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Tread depth below 3/32"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Temperature anomaly correlation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• Eliminates sensor noise / false pos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43400" y="4754880"/>
            <a:ext cx="0" cy="22860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92040" y="4754880"/>
            <a:ext cx="0" cy="228600"/>
          </a:xfrm>
          <a:prstGeom prst="line">
            <a:avLst/>
          </a:prstGeom>
          <a:ln w="25400">
            <a:solidFill>
              <a:srgbClr val="FF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983480"/>
            <a:ext cx="7955279" cy="640080"/>
          </a:xfrm>
          <a:prstGeom prst="roundRect">
            <a:avLst/>
          </a:prstGeom>
          <a:solidFill>
            <a:srgbClr val="141C34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Validated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0292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EC8DC"/>
                </a:solidFill>
              </a:defRPr>
            </a:pPr>
            <a:r>
              <a:t>Both paths must agree → high-confidence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Real-time SageMaker endpoint + batch scoring pipeline via Step Functions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280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900"/>
                </a:solidFill>
              </a:defRPr>
            </a:pPr>
            <a:r>
              <a:t>PREDICTION TIMELINE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1645920"/>
            <a:ext cx="502920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Day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691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Normal operation</a:t>
            </a:r>
            <a:br/>
            <a:r>
              <a:t>All readings nominal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2331720"/>
            <a:ext cx="502920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23774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Day 7-10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23774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Early anomaly detected</a:t>
            </a:r>
            <a:br/>
            <a:r>
              <a:t>ML score crosses threshold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017520"/>
            <a:ext cx="502920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30632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Day 10-12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30632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Physics filter confirms</a:t>
            </a:r>
            <a:br/>
            <a:r>
              <a:t>Pressure decay validated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703320"/>
            <a:ext cx="502920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20" y="3749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</a:defRPr>
            </a:pPr>
            <a:r>
              <a:t>Day 12-14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37490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Alert triggered</a:t>
            </a:r>
            <a:br/>
            <a:r>
              <a:t>Service appointment scheduled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89120"/>
            <a:ext cx="5029200" cy="594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4348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</a:defRPr>
            </a:pPr>
            <a:r>
              <a:t>Day 14+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44348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Without prediction:</a:t>
            </a:r>
            <a:br/>
            <a:r>
              <a:t>Roadside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OUTCOMES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532120"/>
            <a:ext cx="5029200" cy="137160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562356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4D399"/>
                </a:solidFill>
              </a:defRPr>
            </a:pPr>
            <a:r>
              <a:t>7-14 day advance warning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before tire failure occurs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FBBF24"/>
                </a:solidFill>
              </a:defRPr>
            </a:pPr>
            <a:r>
              <a:t>False positive reduction via dual-path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ML alone: ~15% FP → Dual-path: &lt;3% FP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</a:p>
          <a:p>
            <a:pPr algn="l">
              <a:defRPr sz="1000" b="1">
                <a:solidFill>
                  <a:srgbClr val="38BDF8"/>
                </a:solidFill>
              </a:defRPr>
            </a:pPr>
            <a:r>
              <a:t>Automated service scheduling</a:t>
            </a:r>
          </a:p>
          <a:p>
            <a:pPr algn="l">
              <a:defRPr sz="1000" b="0">
                <a:solidFill>
                  <a:srgbClr val="BEC8DC"/>
                </a:solidFill>
              </a:defRPr>
            </a:pPr>
            <a:r>
              <a:t>Alert → EventBridge → Connect outreach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7040880"/>
            <a:ext cx="13533120" cy="502920"/>
          </a:xfrm>
          <a:prstGeom prst="roundRect">
            <a:avLst/>
          </a:prstGeom>
          <a:solidFill>
            <a:srgbClr val="141C34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7-14 days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advance warning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&lt;3% FP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dual-path validated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Real-time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inference endpoint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Fleet-wide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batch scoring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Step Functions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orchestration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0" y="7086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9900"/>
                </a:solidFill>
              </a:defRPr>
            </a:pPr>
            <a:r>
              <a:t>~$114/mo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44400" y="7287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total platform cost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