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COMPONENTS OF A CONNECTED VEHICLE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EC8DC"/>
                </a:solidFill>
              </a:defRPr>
            </a:pPr>
            <a:r>
              <a:t>The building blocks that power modern connected vehicle experiences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4297680" cy="27432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645920"/>
            <a:ext cx="731520" cy="731520"/>
          </a:xfrm>
          <a:prstGeom prst="ellipse">
            <a:avLst/>
          </a:prstGeom>
          <a:solidFill>
            <a:srgbClr val="0E122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Cellular Connectivity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</a:defRPr>
            </a:pPr>
            <a:r>
              <a:t>AWS Connectivity Services (ACS)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60320"/>
            <a:ext cx="374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8DC"/>
                </a:solidFill>
              </a:defRPr>
            </a:pPr>
            <a:r>
              <a:t>Managed cellular connectivity that gets vehicle signals to the cloud — no carrier contracts to manage</a:t>
            </a:r>
          </a:p>
        </p:txBody>
      </p:sp>
      <p:sp>
        <p:nvSpPr>
          <p:cNvPr id="10" name="Oval 9"/>
          <p:cNvSpPr/>
          <p:nvPr/>
        </p:nvSpPr>
        <p:spPr>
          <a:xfrm>
            <a:off x="4343400" y="150876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36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1220"/>
                </a:solidFill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1371600"/>
            <a:ext cx="4297680" cy="27432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40679" y="1645920"/>
            <a:ext cx="731520" cy="731520"/>
          </a:xfrm>
          <a:prstGeom prst="ellipse">
            <a:avLst/>
          </a:prstGeom>
          <a:solidFill>
            <a:srgbClr val="0E1220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79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Device Connectivity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</a:defRPr>
            </a:pPr>
            <a:r>
              <a:t>AWS IoT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79" y="2560320"/>
            <a:ext cx="374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8DC"/>
                </a:solidFill>
              </a:defRPr>
            </a:pPr>
            <a:r>
              <a:t>Bi-directional vehicle-to-cloud communication — connect millions of devices with managed MQTT</a:t>
            </a:r>
          </a:p>
        </p:txBody>
      </p:sp>
      <p:sp>
        <p:nvSpPr>
          <p:cNvPr id="18" name="Oval 17"/>
          <p:cNvSpPr/>
          <p:nvPr/>
        </p:nvSpPr>
        <p:spPr>
          <a:xfrm>
            <a:off x="8961119" y="1508760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536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1220"/>
                </a:solidFill>
              </a:defRPr>
            </a:pPr>
            <a: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371600"/>
            <a:ext cx="4297680" cy="27432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0" y="1645920"/>
            <a:ext cx="731520" cy="731520"/>
          </a:xfrm>
          <a:prstGeom prst="ellipse">
            <a:avLst/>
          </a:prstGeom>
          <a:solidFill>
            <a:srgbClr val="0E122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Event 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</a:defRPr>
            </a:pPr>
            <a:r>
              <a:t>Amazon MSK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560320"/>
            <a:ext cx="374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8DC"/>
                </a:solidFill>
              </a:defRPr>
            </a:pPr>
            <a:r>
              <a:t>High-throughput event ingestion and buffering — replay, fan-out, and durable message delivery</a:t>
            </a:r>
          </a:p>
        </p:txBody>
      </p:sp>
      <p:sp>
        <p:nvSpPr>
          <p:cNvPr id="26" name="Oval 25"/>
          <p:cNvSpPr/>
          <p:nvPr/>
        </p:nvSpPr>
        <p:spPr>
          <a:xfrm>
            <a:off x="13578839" y="1508760"/>
            <a:ext cx="365760" cy="3657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578839" y="1536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1220"/>
                </a:solidFill>
              </a:defRPr>
            </a:pPr>
            <a: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89120"/>
            <a:ext cx="4297680" cy="27432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59" y="4663440"/>
            <a:ext cx="731520" cy="731520"/>
          </a:xfrm>
          <a:prstGeom prst="ellipse">
            <a:avLst/>
          </a:prstGeom>
          <a:solidFill>
            <a:srgbClr val="0E1220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4754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Stream Processing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900"/>
                </a:solidFill>
              </a:defRPr>
            </a:pPr>
            <a:r>
              <a:t>Amazon Managed Flink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5577840"/>
            <a:ext cx="374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8DC"/>
                </a:solidFill>
              </a:defRPr>
            </a:pPr>
            <a:r>
              <a:t>Real-time analytics and anomaly detection on vehicle telemetry — sub-second latency at any scale</a:t>
            </a:r>
          </a:p>
        </p:txBody>
      </p:sp>
      <p:sp>
        <p:nvSpPr>
          <p:cNvPr id="34" name="Oval 33"/>
          <p:cNvSpPr/>
          <p:nvPr/>
        </p:nvSpPr>
        <p:spPr>
          <a:xfrm>
            <a:off x="4343400" y="452628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53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1220"/>
                </a:solidFill>
              </a:defRPr>
            </a:pPr>
            <a: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66359" y="4389120"/>
            <a:ext cx="4297680" cy="27432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40679" y="4663440"/>
            <a:ext cx="731520" cy="731520"/>
          </a:xfrm>
          <a:prstGeom prst="ellipse">
            <a:avLst/>
          </a:prstGeom>
          <a:solidFill>
            <a:srgbClr val="0E1220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0679" y="4754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79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Data &amp; 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79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5CF6"/>
                </a:solidFill>
              </a:defRPr>
            </a:pPr>
            <a:r>
              <a:t>S3 + Athena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79" y="5577840"/>
            <a:ext cx="374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8DC"/>
                </a:solidFill>
              </a:defRPr>
            </a:pPr>
            <a:r>
              <a:t>Serverless data lake and SQL analytics — query petabytes of vehicle data without infrastructure</a:t>
            </a:r>
          </a:p>
        </p:txBody>
      </p:sp>
      <p:sp>
        <p:nvSpPr>
          <p:cNvPr id="42" name="Oval 41"/>
          <p:cNvSpPr/>
          <p:nvPr/>
        </p:nvSpPr>
        <p:spPr>
          <a:xfrm>
            <a:off x="8961119" y="452628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19" y="4553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1220"/>
                </a:solidFill>
              </a:defRPr>
            </a:pPr>
            <a:r>
              <a:t>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4389120"/>
            <a:ext cx="4297680" cy="27432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58400" y="4663440"/>
            <a:ext cx="731520" cy="731520"/>
          </a:xfrm>
          <a:prstGeom prst="ellipse">
            <a:avLst/>
          </a:prstGeom>
          <a:solidFill>
            <a:srgbClr val="0E1220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0" y="4754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Customer Engagement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72B6"/>
                </a:solidFill>
              </a:defRPr>
            </a:pPr>
            <a:r>
              <a:t>Amazon Connect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5577840"/>
            <a:ext cx="374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8DC"/>
                </a:solidFill>
              </a:defRPr>
            </a:pPr>
            <a:r>
              <a:t>AI-powered contact center and proactive outreach — triggered by vehicle events and predictions</a:t>
            </a:r>
          </a:p>
        </p:txBody>
      </p:sp>
      <p:sp>
        <p:nvSpPr>
          <p:cNvPr id="50" name="Oval 49"/>
          <p:cNvSpPr/>
          <p:nvPr/>
        </p:nvSpPr>
        <p:spPr>
          <a:xfrm>
            <a:off x="13578839" y="4526280"/>
            <a:ext cx="365760" cy="36576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578839" y="4553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1220"/>
                </a:solidFill>
              </a:defRPr>
            </a:pPr>
            <a:r>
              <a:t>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7543800"/>
            <a:ext cx="13716000" cy="50292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75895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0" y="7589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Observability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71600" y="7818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</a:defRPr>
            </a:pPr>
            <a:r>
              <a:t>Amazon CloudWatch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7653527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8DC"/>
                </a:solidFill>
              </a:defRPr>
            </a:pPr>
            <a:r>
              <a:t>Unified metrics, logs, alarms, and dashboards across all components — single pane of glass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