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900"/>
                </a:solidFill>
              </a:defRPr>
            </a:pPr>
            <a:r>
              <a:t>CONNECTED VEHICLE PLATFORM FLYWHEEL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EC8DC"/>
                </a:solidFill>
              </a:defRPr>
            </a:pPr>
            <a:r>
              <a:t>Six managed AWS services powering the continuous vehicle data loop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26066" y="2231136"/>
            <a:ext cx="823569" cy="475488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246502" y="3913632"/>
            <a:ext cx="0" cy="950975"/>
          </a:xfrm>
          <a:prstGeom prst="line">
            <a:avLst/>
          </a:prstGeom>
          <a:ln w="3175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5726066" y="6071616"/>
            <a:ext cx="823569" cy="475487"/>
          </a:xfrm>
          <a:prstGeom prst="line">
            <a:avLst/>
          </a:prstGeom>
          <a:ln w="317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3508764" y="6071616"/>
            <a:ext cx="823569" cy="475487"/>
          </a:xfrm>
          <a:prstGeom prst="line">
            <a:avLst/>
          </a:prstGeom>
          <a:ln w="3175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811897" y="3913631"/>
            <a:ext cx="0" cy="950976"/>
          </a:xfrm>
          <a:prstGeom prst="line">
            <a:avLst/>
          </a:prstGeom>
          <a:ln w="317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508764" y="2231136"/>
            <a:ext cx="823569" cy="475487"/>
          </a:xfrm>
          <a:prstGeom prst="line">
            <a:avLst/>
          </a:prstGeom>
          <a:ln w="3175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297680" y="1097280"/>
            <a:ext cx="1463040" cy="1463040"/>
          </a:xfrm>
          <a:prstGeom prst="ellipse">
            <a:avLst/>
          </a:prstGeom>
          <a:solidFill>
            <a:srgbClr val="141C34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60520" y="96012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9875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1220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3258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ACS</a:t>
            </a:r>
            <a:br/>
            <a:r>
              <a:t>Cellular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874519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E7D96"/>
                </a:solidFill>
              </a:defRPr>
            </a:pPr>
            <a:r>
              <a:t>Managed cellular</a:t>
            </a:r>
            <a:br/>
            <a:r>
              <a:t>connectivity</a:t>
            </a:r>
          </a:p>
        </p:txBody>
      </p:sp>
      <p:sp>
        <p:nvSpPr>
          <p:cNvPr id="15" name="Oval 14"/>
          <p:cNvSpPr/>
          <p:nvPr/>
        </p:nvSpPr>
        <p:spPr>
          <a:xfrm>
            <a:off x="6514982" y="2377440"/>
            <a:ext cx="1463040" cy="1463040"/>
          </a:xfrm>
          <a:prstGeom prst="ellipse">
            <a:avLst/>
          </a:prstGeom>
          <a:solidFill>
            <a:srgbClr val="141C34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77822" y="2240280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7822" y="22677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1220"/>
                </a:solidFill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6422" y="260604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IoT Core</a:t>
            </a:r>
            <a:br/>
            <a:r>
              <a:t>Connectivity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6422" y="31546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E7D96"/>
                </a:solidFill>
              </a:defRPr>
            </a:pPr>
            <a:r>
              <a:t>Billions of messages</a:t>
            </a:r>
            <a:br/>
            <a:r>
              <a:t>auto-scaling</a:t>
            </a:r>
          </a:p>
        </p:txBody>
      </p:sp>
      <p:sp>
        <p:nvSpPr>
          <p:cNvPr id="20" name="Oval 19"/>
          <p:cNvSpPr/>
          <p:nvPr/>
        </p:nvSpPr>
        <p:spPr>
          <a:xfrm>
            <a:off x="6514982" y="4937759"/>
            <a:ext cx="1463040" cy="1463040"/>
          </a:xfrm>
          <a:prstGeom prst="ellipse">
            <a:avLst/>
          </a:prstGeom>
          <a:solidFill>
            <a:srgbClr val="141C34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7822" y="4800599"/>
            <a:ext cx="365760" cy="3657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7822" y="4828031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1220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6422" y="5166359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Amazon MSK</a:t>
            </a:r>
            <a:br/>
            <a:r>
              <a:t>Streaming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6422" y="5714999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E7D96"/>
                </a:solidFill>
              </a:defRPr>
            </a:pPr>
            <a:r>
              <a:t>Managed Kafka</a:t>
            </a:r>
            <a:br/>
            <a:r>
              <a:t>unlimited throughput</a:t>
            </a:r>
          </a:p>
        </p:txBody>
      </p:sp>
      <p:sp>
        <p:nvSpPr>
          <p:cNvPr id="25" name="Oval 24"/>
          <p:cNvSpPr/>
          <p:nvPr/>
        </p:nvSpPr>
        <p:spPr>
          <a:xfrm>
            <a:off x="4297680" y="6217920"/>
            <a:ext cx="1463040" cy="1463040"/>
          </a:xfrm>
          <a:prstGeom prst="ellipse">
            <a:avLst/>
          </a:prstGeom>
          <a:solidFill>
            <a:srgbClr val="141C34"/>
          </a:solidFill>
          <a:ln w="317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160520" y="6080759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6108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1220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465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Managed Flink</a:t>
            </a:r>
            <a:br/>
            <a:r>
              <a:t>Processing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6995159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E7D96"/>
                </a:solidFill>
              </a:defRPr>
            </a:pPr>
            <a:r>
              <a:t>Real-time analytics</a:t>
            </a:r>
            <a:br/>
            <a:r>
              <a:t>sub-second latency</a:t>
            </a:r>
          </a:p>
        </p:txBody>
      </p:sp>
      <p:sp>
        <p:nvSpPr>
          <p:cNvPr id="30" name="Oval 29"/>
          <p:cNvSpPr/>
          <p:nvPr/>
        </p:nvSpPr>
        <p:spPr>
          <a:xfrm>
            <a:off x="2080377" y="4937759"/>
            <a:ext cx="1463040" cy="1463040"/>
          </a:xfrm>
          <a:prstGeom prst="ellipse">
            <a:avLst/>
          </a:prstGeom>
          <a:solidFill>
            <a:srgbClr val="141C34"/>
          </a:solidFill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943217" y="4800599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43217" y="4828031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1220"/>
                </a:solidFill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71817" y="5166359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S3 + Athena</a:t>
            </a:r>
            <a:br/>
            <a:r>
              <a:t>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71817" y="5714999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E7D96"/>
                </a:solidFill>
              </a:defRPr>
            </a:pPr>
            <a:r>
              <a:t>Serverless storage</a:t>
            </a:r>
            <a:br/>
            <a:r>
              <a:t>SQL on petabytes</a:t>
            </a:r>
          </a:p>
        </p:txBody>
      </p:sp>
      <p:sp>
        <p:nvSpPr>
          <p:cNvPr id="35" name="Oval 34"/>
          <p:cNvSpPr/>
          <p:nvPr/>
        </p:nvSpPr>
        <p:spPr>
          <a:xfrm>
            <a:off x="2080377" y="2377439"/>
            <a:ext cx="1463040" cy="1463040"/>
          </a:xfrm>
          <a:prstGeom prst="ellipse">
            <a:avLst/>
          </a:prstGeom>
          <a:solidFill>
            <a:srgbClr val="141C34"/>
          </a:solidFill>
          <a:ln w="317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943217" y="2240279"/>
            <a:ext cx="365760" cy="36576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43217" y="2267711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1220"/>
                </a:solidFill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71817" y="2606039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Amazon Connect</a:t>
            </a:r>
            <a:br/>
            <a:r>
              <a:t>Engagement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71817" y="3154679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E7D96"/>
                </a:solidFill>
              </a:defRPr>
            </a:pPr>
            <a:r>
              <a:t>AI-powered IVR</a:t>
            </a:r>
            <a:br/>
            <a:r>
              <a:t>omnichannel</a:t>
            </a:r>
          </a:p>
        </p:txBody>
      </p:sp>
      <p:sp>
        <p:nvSpPr>
          <p:cNvPr id="40" name="Oval 39"/>
          <p:cNvSpPr/>
          <p:nvPr/>
        </p:nvSpPr>
        <p:spPr>
          <a:xfrm>
            <a:off x="4206240" y="3566160"/>
            <a:ext cx="1645920" cy="1645920"/>
          </a:xfrm>
          <a:prstGeom prst="ellipse">
            <a:avLst/>
          </a:prstGeom>
          <a:solidFill>
            <a:srgbClr val="101628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51960" y="3886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900"/>
                </a:solidFill>
              </a:defRPr>
            </a:pPr>
            <a:r>
              <a:t>Vehicle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1960" y="4206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900"/>
                </a:solidFill>
              </a:defRPr>
            </a:pPr>
            <a:r>
              <a:t>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4526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900"/>
                </a:solidFill>
              </a:defRPr>
            </a:pPr>
            <a:r>
              <a:t>Flywheel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1371600"/>
            <a:ext cx="4937760" cy="6217920"/>
          </a:xfrm>
          <a:prstGeom prst="roundRect">
            <a:avLst/>
          </a:prstGeom>
          <a:solidFill>
            <a:srgbClr val="14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326880" y="1554480"/>
            <a:ext cx="731520" cy="320040"/>
          </a:xfrm>
          <a:prstGeom prst="roundRect">
            <a:avLst/>
          </a:prstGeom>
          <a:solidFill>
            <a:srgbClr val="0E122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72600" y="158191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1 →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Ingest &amp; Connect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19202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EC8DC"/>
                </a:solidFill>
              </a:defRPr>
            </a:pPr>
            <a:r>
              <a:t>Vehicle signals flow through managed cellular (ACS) and IoT Core — no brokers to manage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26880" y="3017520"/>
            <a:ext cx="731520" cy="320040"/>
          </a:xfrm>
          <a:prstGeom prst="roundRect">
            <a:avLst/>
          </a:prstGeom>
          <a:solidFill>
            <a:srgbClr val="0E122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72600" y="3044951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3 → 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Stream &amp; Process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3383279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EC8DC"/>
                </a:solidFill>
              </a:defRPr>
            </a:pPr>
            <a:r>
              <a:t>Amazon MSK ingests events, Managed Flink processes in real-time — zero ops Kafka &amp; Flink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326880" y="4480560"/>
            <a:ext cx="731520" cy="320040"/>
          </a:xfrm>
          <a:prstGeom prst="roundRect">
            <a:avLst/>
          </a:prstGeom>
          <a:solidFill>
            <a:srgbClr val="0E122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72600" y="45079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5 → 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0" y="4480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Analyze &amp; 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41280" y="4846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EC8DC"/>
                </a:solidFill>
              </a:defRPr>
            </a:pPr>
            <a:r>
              <a:t>S3 + Athena for serverless analytics, Amazon Connect for customer engagement &amp; alerts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26880" y="5943600"/>
            <a:ext cx="731520" cy="320040"/>
          </a:xfrm>
          <a:prstGeom prst="roundRect">
            <a:avLst/>
          </a:prstGeom>
          <a:solidFill>
            <a:srgbClr val="0E1220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72600" y="59710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900"/>
                </a:solidFill>
              </a:defRPr>
            </a:pPr>
            <a:r>
              <a:t>6 → 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41280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Loop Back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0" y="63093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EC8DC"/>
                </a:solidFill>
              </a:defRPr>
            </a:pPr>
            <a:r>
              <a:t>Insights drive OTA updates, proactive service, and personalized experiences back to the vehicle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326880" y="7315200"/>
            <a:ext cx="4572000" cy="320040"/>
          </a:xfrm>
          <a:prstGeom prst="roundRect">
            <a:avLst/>
          </a:prstGeom>
          <a:solidFill>
            <a:srgbClr val="0E1220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09760" y="734263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</a:defRPr>
            </a:pPr>
            <a:r>
              <a:t>☁  Amazon CloudWatch — observability across all layers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