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WHAT'S HOLDING YOU AT GEN 2?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BEC8DC"/>
                </a:solidFill>
              </a:defRPr>
            </a:pPr>
            <a:r>
              <a:t>The barriers between cloud-connected and cloud-native &amp; AI-enabled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6400800" cy="457200"/>
          </a:xfrm>
          <a:prstGeom prst="rect">
            <a:avLst/>
          </a:prstGeom>
          <a:solidFill>
            <a:srgbClr val="141C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Gen 2: Cloud-Connected  (where most OEMs are today)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0" y="1371600"/>
            <a:ext cx="6400800" cy="457200"/>
          </a:xfrm>
          <a:prstGeom prst="rect">
            <a:avLst/>
          </a:prstGeom>
          <a:solidFill>
            <a:srgbClr val="14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Gen 3: Cloud-Native &amp; AI-Enabled  (where you need to be)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135331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6E7D96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6400800" cy="2560320"/>
          </a:xfrm>
          <a:prstGeom prst="rect">
            <a:avLst/>
          </a:prstGeom>
          <a:solidFill>
            <a:srgbClr val="141C3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2402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Scaling Ceiling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10x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E7D96"/>
                </a:solidFill>
              </a:defRPr>
            </a:pPr>
            <a:r>
              <a:t>fleet growth expected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78892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8DC"/>
                </a:solidFill>
              </a:defRPr>
            </a:pPr>
            <a:r>
              <a:t>Self-managed infrastructure hits hard limits as fleets grow from thousands to millions of vehicles. Every new region, every new model year compounds the problem.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2926080" cy="548640"/>
          </a:xfrm>
          <a:prstGeom prst="rect">
            <a:avLst/>
          </a:prstGeom>
          <a:solidFill>
            <a:srgbClr val="101424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7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Gen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E7D96"/>
                </a:solidFill>
              </a:defRPr>
            </a:pPr>
            <a:r>
              <a:t>Manual capacity planning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79" y="3931920"/>
            <a:ext cx="2926080" cy="548640"/>
          </a:xfrm>
          <a:prstGeom prst="rect">
            <a:avLst/>
          </a:prstGeom>
          <a:solidFill>
            <a:srgbClr val="101424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3950207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Gen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Auto-scaling managed services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2103120"/>
            <a:ext cx="6400800" cy="2560320"/>
          </a:xfrm>
          <a:prstGeom prst="rect">
            <a:avLst/>
          </a:prstGeom>
          <a:solidFill>
            <a:srgbClr val="141C34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22402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2402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Ops Burden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7171"/>
                </a:solidFill>
              </a:defRPr>
            </a:pPr>
            <a:r>
              <a:t>70%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E7D96"/>
                </a:solidFill>
              </a:defRPr>
            </a:pPr>
            <a:r>
              <a:t>of eng time on infra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78892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8DC"/>
                </a:solidFill>
              </a:defRPr>
            </a:pPr>
            <a:r>
              <a:t>Engineering teams spend the majority of their time patching, scaling, and maintaining infrastructure instead of building features that differentiate your vehicles.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3931920"/>
            <a:ext cx="2926080" cy="548640"/>
          </a:xfrm>
          <a:prstGeom prst="rect">
            <a:avLst/>
          </a:prstGeom>
          <a:solidFill>
            <a:srgbClr val="101424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3950207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Gen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E7D96"/>
                </a:solidFill>
              </a:defRPr>
            </a:pPr>
            <a:r>
              <a:t>Teams manage servers &amp; pipelines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07040" y="3931920"/>
            <a:ext cx="2926080" cy="548640"/>
          </a:xfrm>
          <a:prstGeom prst="rect">
            <a:avLst/>
          </a:prstGeom>
          <a:solidFill>
            <a:srgbClr val="101424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44200" y="3950207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Gen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4420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Zero-ops fully managed services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937759"/>
            <a:ext cx="6400800" cy="2560320"/>
          </a:xfrm>
          <a:prstGeom prst="rect">
            <a:avLst/>
          </a:prstGeom>
          <a:solidFill>
            <a:srgbClr val="141C3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074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Cost Doesn't Scale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59" y="50291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BBF24"/>
                </a:solidFill>
              </a:defRPr>
            </a:pPr>
            <a:r>
              <a:t>Linear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59" y="53949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E7D96"/>
                </a:solidFill>
              </a:defRPr>
            </a:pPr>
            <a:r>
              <a:t>cost growth with fleet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" y="5623559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8DC"/>
                </a:solidFill>
              </a:defRPr>
            </a:pPr>
            <a:r>
              <a:t>On-prem and self-managed cloud costs grow linearly with fleet size. Every additional vehicle adds proportional infrastructure cost with no economies of scale.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6766559"/>
            <a:ext cx="2926080" cy="548640"/>
          </a:xfrm>
          <a:prstGeom prst="rect">
            <a:avLst/>
          </a:prstGeom>
          <a:solidFill>
            <a:srgbClr val="101424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6784847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Gen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69951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E7D96"/>
                </a:solidFill>
              </a:defRPr>
            </a:pPr>
            <a:r>
              <a:t>Pay for peak capacity 24/7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79" y="6766559"/>
            <a:ext cx="2926080" cy="548640"/>
          </a:xfrm>
          <a:prstGeom prst="rect">
            <a:avLst/>
          </a:prstGeom>
          <a:solidFill>
            <a:srgbClr val="101424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77639" y="6784847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Gen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77639" y="69951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Pay-as-you-go, scale to zero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0" y="4937759"/>
            <a:ext cx="6400800" cy="2560320"/>
          </a:xfrm>
          <a:prstGeom prst="rect">
            <a:avLst/>
          </a:prstGeom>
          <a:solidFill>
            <a:srgbClr val="141C3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79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074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Innovation Gap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04320" y="50291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4D399"/>
                </a:solidFill>
              </a:defRPr>
            </a:pPr>
            <a:r>
              <a:t>Weeks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04320" y="53949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E7D96"/>
                </a:solidFill>
              </a:defRPr>
            </a:pPr>
            <a:r>
              <a:t>vs. quarters to ship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20" y="5623559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8DC"/>
                </a:solidFill>
              </a:defRPr>
            </a:pPr>
            <a:r>
              <a:t>Competitors on managed services ship new features in days. You're still waiting on infrastructure provisioning, capacity reviews, and deployment windows.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79" y="6766559"/>
            <a:ext cx="2926080" cy="548640"/>
          </a:xfrm>
          <a:prstGeom prst="rect">
            <a:avLst/>
          </a:prstGeom>
          <a:solidFill>
            <a:srgbClr val="101424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35240" y="6784847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Gen 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69951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E7D96"/>
                </a:solidFill>
              </a:defRPr>
            </a:pPr>
            <a:r>
              <a:t>Quarterly release cycles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607040" y="6766559"/>
            <a:ext cx="2926080" cy="548640"/>
          </a:xfrm>
          <a:prstGeom prst="rect">
            <a:avLst/>
          </a:prstGeom>
          <a:solidFill>
            <a:srgbClr val="101424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744200" y="6784847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Gen 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44200" y="69951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Continuous delivery in days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7315200"/>
            <a:ext cx="13533120" cy="411480"/>
          </a:xfrm>
          <a:prstGeom prst="rect">
            <a:avLst/>
          </a:prstGeom>
          <a:solidFill>
            <a:srgbClr val="141C34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7360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EC8DC"/>
                </a:solidFill>
              </a:defRPr>
            </a:pPr>
            <a:r>
              <a:t>The path from Gen 2 to Gen 3 isn't a rewrite — it's a migration to managed services.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7360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9900"/>
                </a:solidFill>
              </a:defRPr>
            </a:pPr>
            <a:r>
              <a:t>AWS makes it possible.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7909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