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EC8DC"/>
                </a:solidFill>
              </a:defRPr>
            </a:pPr>
            <a:r>
              <a:t>Vehicle Technology &amp; Connected —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3533120" cy="365760"/>
          </a:xfrm>
          <a:prstGeom prst="rect">
            <a:avLst/>
          </a:prstGeom>
          <a:solidFill>
            <a:srgbClr val="1E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E7D96"/>
                </a:solidFill>
              </a:defRPr>
            </a:pPr>
            <a:r>
              <a:t>Strategic Domains: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16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Vehicle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16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Connected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16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E7D96"/>
                </a:solidFill>
              </a:defRPr>
            </a:pPr>
            <a:r>
              <a:t>Product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216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E7D96"/>
                </a:solidFill>
              </a:defRPr>
            </a:pPr>
            <a:r>
              <a:t>Smart Manufacturing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28800"/>
            <a:ext cx="12618720" cy="1371600"/>
          </a:xfrm>
          <a:prstGeom prst="rect">
            <a:avLst/>
          </a:prstGeom>
          <a:solidFill>
            <a:srgbClr val="141C3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EC8DC"/>
                </a:solidFill>
              </a:defRPr>
            </a:pPr>
            <a:r>
              <a:t>Modernizing the connected vehicle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8BDF8"/>
                </a:solidFill>
              </a:defRPr>
            </a:pPr>
            <a:r>
              <a:t>Cellular (ACS)  ·  Connectivity (IoT Core)  ·  Streaming (MSK)  ·  Processing (Flink)  ·  Observability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337560"/>
            <a:ext cx="12618720" cy="1371600"/>
          </a:xfrm>
          <a:prstGeom prst="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033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Automotive Data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EC8DC"/>
                </a:solidFill>
              </a:defRPr>
            </a:pPr>
            <a:r>
              <a:t>Turning vehicle data into actionable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4D399"/>
                </a:solidFill>
              </a:defRPr>
            </a:pPr>
            <a:r>
              <a:t>Data lake (S3)  ·  Analytics (Athena)  ·  ML &amp; predictions (SageMaker)  ·  Data governance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846320"/>
            <a:ext cx="12618720" cy="1371600"/>
          </a:xfrm>
          <a:prstGeom prst="rect">
            <a:avLst/>
          </a:prstGeom>
          <a:solidFill>
            <a:srgbClr val="141C34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212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72B6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83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Digital Customer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EC8DC"/>
                </a:solidFill>
              </a:defRPr>
            </a:pPr>
            <a:r>
              <a:t>Engaging customers across every touchpoint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150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472B6"/>
                </a:solidFill>
              </a:defRPr>
            </a:pPr>
            <a:r>
              <a:t>Contact center (Connect)  ·  CRM integration  ·  Personalization  ·  After-sales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6355079"/>
            <a:ext cx="12618720" cy="1371600"/>
          </a:xfrm>
          <a:prstGeom prst="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720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492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Fleet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68579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BEC8DC"/>
                </a:solidFill>
              </a:defRPr>
            </a:pPr>
            <a:r>
              <a:t>Optimizing fleet operations at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7223759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8B5CF6"/>
                </a:solidFill>
              </a:defRPr>
            </a:pPr>
            <a:r>
              <a:t>Telematics &amp; tracking  ·  Predictive maintenance  ·  Route optimization  ·  Driver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