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9900"/>
                </a:solidFill>
              </a:defRPr>
            </a:pPr>
            <a:r>
              <a:t>DATA MESH FOUNDATION —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280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EC8DC"/>
                </a:solidFill>
              </a:defRPr>
            </a:pPr>
            <a:r>
              <a:t>SageMaker Unified Studio (DataZone V2) — federated catalog, domain ownership, governed self-service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13533120" cy="3200400"/>
          </a:xfrm>
          <a:prstGeom prst="roundRect">
            <a:avLst/>
          </a:prstGeom>
          <a:solidFill>
            <a:srgbClr val="12182D"/>
          </a:solidFill>
          <a:ln w="19050">
            <a:solidFill>
              <a:srgbClr val="FF99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14600"/>
            <a:ext cx="1316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9900"/>
                </a:solidFill>
              </a:defRPr>
            </a:pPr>
            <a:r>
              <a:t>← INSERT ARCHITECTURE DIAGRAM →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480560"/>
            <a:ext cx="45720" cy="237744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4480560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900"/>
                </a:solidFill>
              </a:defRPr>
            </a:pPr>
            <a:r>
              <a:t>PLATFORM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59" y="4727448"/>
            <a:ext cx="1188720" cy="1828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4800600"/>
            <a:ext cx="4023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SageMaker Unified Studio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DataZone V2 domain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IAM Identity Center (SSO)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Automatic user assignment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6E7D96"/>
                </a:solidFill>
              </a:defRPr>
            </a:pPr>
            <a:r>
              <a:t>Web portal for all personas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</a:p>
          <a:p>
            <a:pPr algn="l">
              <a:spcBef>
                <a:spcPts val="200"/>
              </a:spcBef>
              <a:defRPr sz="1000" b="1">
                <a:solidFill>
                  <a:srgbClr val="FFFFFF"/>
                </a:solidFill>
              </a:defRPr>
            </a:pPr>
            <a:r>
              <a:t>CloudFormation deployment: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shared-resources → datazone-domain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6E7D96"/>
                </a:solidFill>
              </a:defRPr>
            </a:pPr>
            <a:r>
              <a:t>→ blueprint-roles → enable-blueprints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0" y="4480560"/>
            <a:ext cx="45720" cy="2377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59" y="4480560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</a:defRPr>
            </a:pPr>
            <a:r>
              <a:t>BLUEPRINTS &amp; INFRA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94959" y="4727448"/>
            <a:ext cx="2286000" cy="1828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94959" y="4800600"/>
            <a:ext cx="4023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5 enabled blueprints: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ML Analysis (SageMaker)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Tooling (Glue, Athena)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Redshift · EMR · Bedrock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</a:p>
          <a:p>
            <a:pPr algn="l">
              <a:spcBef>
                <a:spcPts val="200"/>
              </a:spcBef>
              <a:defRPr sz="1000" b="1">
                <a:solidFill>
                  <a:srgbClr val="FFFFFF"/>
                </a:solidFill>
              </a:defRPr>
            </a:pPr>
            <a:r>
              <a:t>Networking: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VPC 10.0.0.0/16 · 3 AZ subnets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NAT Gateway · VPC endpoints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6E7D96"/>
                </a:solidFill>
              </a:defRPr>
            </a:pPr>
            <a:r>
              <a:t>S3 encrypted, versioned, logged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4480560"/>
            <a:ext cx="45720" cy="23774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0" y="4480560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D399"/>
                </a:solidFill>
              </a:defRPr>
            </a:pPr>
            <a:r>
              <a:t>CATALOG &amp; PERSONAS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66960" y="4727448"/>
            <a:ext cx="2286000" cy="1828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66960" y="4800600"/>
            <a:ext cx="4023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Data publishing: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Glue → DataZone discovery → publish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Searchable catalog + lineage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</a:p>
          <a:p>
            <a:pPr algn="l">
              <a:spcBef>
                <a:spcPts val="200"/>
              </a:spcBef>
              <a:defRPr sz="1000" b="1">
                <a:solidFill>
                  <a:srgbClr val="38BDF8"/>
                </a:solidFill>
              </a:defRPr>
            </a:pPr>
            <a:r>
              <a:t>Data Engineer: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Glue ETL · Athena · publish datasets</a:t>
            </a:r>
          </a:p>
          <a:p>
            <a:pPr algn="l">
              <a:spcBef>
                <a:spcPts val="200"/>
              </a:spcBef>
              <a:defRPr sz="1000" b="1">
                <a:solidFill>
                  <a:srgbClr val="8B5CF6"/>
                </a:solidFill>
              </a:defRPr>
            </a:pPr>
            <a:r>
              <a:t>ML Engineer: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SageMaker notebooks · model training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6E7D96"/>
                </a:solidFill>
              </a:defRPr>
            </a:pPr>
            <a:r>
              <a:t>Analyst: QuickSight dashboards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7086600"/>
            <a:ext cx="13533120" cy="1828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7178040"/>
            <a:ext cx="1353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9900"/>
                </a:solidFill>
              </a:defRPr>
            </a:pPr>
            <a:r>
              <a:t>DataZone V2  ·  SSO  ·  5 blueprints  ·  3-AZ VPC  ·  Federated catalog  ·  Domain ownership  ·  CloudFormation IaC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7863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7D96"/>
                </a:solidFill>
              </a:defRPr>
            </a:pPr>
            <a:r>
              <a:t>© 2026, Amazon Web Services, Inc. or its affiliates. All rights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