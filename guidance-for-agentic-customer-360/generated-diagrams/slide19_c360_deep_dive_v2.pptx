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CUSTOMER 360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8DC"/>
                </a:solidFill>
              </a:defRPr>
            </a:pPr>
            <a:r>
              <a:t>Unified customer profiles with AI-powered root cause analysis — 6 CDK stacks, 500K customers, 11 datasets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6675120" cy="594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① S3 Data 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430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cx360-data-lake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Encrypted S3 bucket · Versioned · Access logging · Block public access · Partitioned: raw/ → processed/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691640"/>
            <a:ext cx="0" cy="182879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874519"/>
            <a:ext cx="3200400" cy="9144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② 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</a:defRPr>
            </a:pPr>
            <a:r>
              <a:t>500K customers · 200 dealers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Faker + Aurora PostgreSQL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10 years of history (2015-2024)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874519"/>
            <a:ext cx="3200400" cy="9144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② Glue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48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11 tables: accounts, vehicles,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cases, surveys, service_appts,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opportunities, dealers, users...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788920"/>
            <a:ext cx="0" cy="18288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2971800"/>
            <a:ext cx="6675120" cy="10515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17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③ Glue ETL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17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cx360-etl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process_customer_360.py: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Join accounts + vehicles + cases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+ surveys + service appointments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→ processed/customer-360/ (Parquet)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246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calculate_health_scores.py: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Weighted score (0-100):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Recency 30% · Satisfaction 25%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Support 20% · Engage 15% · Pay 10%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4023360"/>
            <a:ext cx="0" cy="22860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03520" y="4023360"/>
            <a:ext cx="0" cy="22860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251960"/>
            <a:ext cx="3200400" cy="11887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</a:defRPr>
            </a:pPr>
            <a:r>
              <a:t>④ Athena + QuickSight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26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Athena workgroup + 7 views: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customer_health_scores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at_risk_revenue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kpi_trends, operational_kpis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issue_categories, revenue_breakdown</a:t>
            </a:r>
          </a:p>
          <a:p>
            <a:pPr algn="l">
              <a:defRPr sz="900" b="1">
                <a:solidFill>
                  <a:srgbClr val="FBBF24"/>
                </a:solidFill>
              </a:defRPr>
            </a:pPr>
            <a:r>
              <a:t>QuickSight: OEM Business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251960"/>
            <a:ext cx="3200400" cy="11887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④ Bedrock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26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Knowledge Base: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S3 → Titan Embed v1 (1536 dims)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Aurora pgvector storage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Playbooks: battery, churn, analytics</a:t>
            </a:r>
          </a:p>
          <a:p>
            <a:pPr algn="l">
              <a:defRPr sz="900" b="1">
                <a:solidFill>
                  <a:srgbClr val="FFFFFF"/>
                </a:solidFill>
              </a:defRPr>
            </a:pPr>
            <a:r>
              <a:t>Action Group (Lambda):</a:t>
            </a:r>
          </a:p>
          <a:p>
            <a:pPr algn="l">
              <a:defRPr sz="900" b="0">
                <a:solidFill>
                  <a:srgbClr val="8B5CF6"/>
                </a:solidFill>
              </a:defRPr>
            </a:pPr>
            <a:r>
              <a:t>6 API paths for Athena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0972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BEDROCK AGENT ACTION GROUP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1371600"/>
            <a:ext cx="6492240" cy="1920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4173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Lambda handles 6 API paths — each queries Athena views: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164592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</a:defRPr>
            </a:pPr>
            <a:r>
              <a:t>/query-health-segments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Customer health by segment</a:t>
            </a:r>
          </a:p>
          <a:p>
            <a:pPr algn="l">
              <a:defRPr sz="900" b="1">
                <a:solidFill>
                  <a:srgbClr val="8B5CF6"/>
                </a:solidFill>
              </a:defRPr>
            </a:pPr>
            <a:r>
              <a:t>/query-at-risk-customers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Revenue at risk + churn prob</a:t>
            </a:r>
          </a:p>
          <a:p>
            <a:pPr algn="l">
              <a:defRPr sz="900" b="1">
                <a:solidFill>
                  <a:srgbClr val="8B5CF6"/>
                </a:solidFill>
              </a:defRPr>
            </a:pPr>
            <a:r>
              <a:t>/query-sentiment-trends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NPS trends over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164592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</a:defRPr>
            </a:pPr>
            <a:r>
              <a:t>/query-root-causes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Issue categories + root causes</a:t>
            </a:r>
          </a:p>
          <a:p>
            <a:pPr algn="l">
              <a:defRPr sz="900" b="1">
                <a:solidFill>
                  <a:srgbClr val="8B5CF6"/>
                </a:solidFill>
              </a:defRPr>
            </a:pPr>
            <a:r>
              <a:t>/query-customer-360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Full customer profile lookup</a:t>
            </a:r>
          </a:p>
          <a:p>
            <a:pPr algn="l">
              <a:defRPr sz="900" b="1">
                <a:solidFill>
                  <a:srgbClr val="8B5CF6"/>
                </a:solidFill>
              </a:defRPr>
            </a:pPr>
            <a:r>
              <a:t>/query-dashboard-metrics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Operational KPIs +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474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DEMO SCENARIO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3749039"/>
            <a:ext cx="6492240" cy="59436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7947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User asks: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97763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"What's causing declining sentiment in the Southeast region?"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835640" y="4343400"/>
            <a:ext cx="0" cy="22860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589520" y="4572000"/>
            <a:ext cx="6492240" cy="11887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46177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Agent Reasoning 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84632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1. /query-sentiment-trends → NPS declining 12pts in SE (Q3→Q4)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2. /query-root-causes → battery issues 42%, service delays 31%, recall comms 27%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3. Knowledge Base retrieval → battery-remediation-playbook.md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4. /query-at-risk-customers → 2,340 high-value customers at risk ($4.2M revenue)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835640" y="5760720"/>
            <a:ext cx="0" cy="22860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89520" y="5989320"/>
            <a:ext cx="6492240" cy="91440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60350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Synthesized Answer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626364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</a:defRPr>
            </a:pPr>
            <a:r>
              <a:t>"SE NPS dropped 12pts. Root causes: battery degradation in hot climates (42%),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service wait times up 3.2 days (31%), delayed recall comms (27%).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Recommended: Proactive battery replacement per playbook. 2,340 customers at risk."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7178040"/>
            <a:ext cx="13716000" cy="4114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7205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6 CDK stacks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7379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modular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7205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500K customers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7379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synthetic dataset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7205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11 Glue tables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7379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unified catalog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7205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7 Athena 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7379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analytical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7205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Titan Embed v1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7379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1536-dim vectors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7205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6 API paths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7379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agent action group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18720" y="7205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pgvector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18720" y="7379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Aurora PostgreSQL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