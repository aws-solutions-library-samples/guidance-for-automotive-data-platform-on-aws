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ELEMENTS OF A CONNECTED VEHICLE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Six managed AWS services powering modern connected vehicle experiences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54913" y="2141524"/>
            <a:ext cx="896424" cy="51755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51371" y="3871569"/>
            <a:ext cx="0" cy="103510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454913" y="6119164"/>
            <a:ext cx="896424" cy="51755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158422" y="6119164"/>
            <a:ext cx="896424" cy="51755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58388" y="3871569"/>
            <a:ext cx="0" cy="103510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158422" y="2141524"/>
            <a:ext cx="896424" cy="517551"/>
          </a:xfrm>
          <a:prstGeom prst="line">
            <a:avLst/>
          </a:prstGeom>
          <a:ln w="19050">
            <a:solidFill>
              <a:srgbClr val="28344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977640" y="960119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4572000" y="1161287"/>
            <a:ext cx="365760" cy="365760"/>
          </a:xfrm>
          <a:prstGeom prst="diamond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618487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Cellular</a:t>
            </a:r>
            <a:br/>
            <a: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031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BDF8"/>
                </a:solidFill>
              </a:defRPr>
            </a:pPr>
            <a:r>
              <a:t>ACS</a:t>
            </a:r>
          </a:p>
        </p:txBody>
      </p:sp>
      <p:sp>
        <p:nvSpPr>
          <p:cNvPr id="14" name="Oval 13"/>
          <p:cNvSpPr/>
          <p:nvPr/>
        </p:nvSpPr>
        <p:spPr>
          <a:xfrm>
            <a:off x="3886200" y="868679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89611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6274131" y="2286000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68491" y="2487168"/>
            <a:ext cx="365760" cy="36576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9851" y="2944368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Device</a:t>
            </a:r>
            <a:br/>
            <a:r>
              <a:t>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9851" y="342900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D399"/>
                </a:solidFill>
              </a:defRPr>
            </a:pPr>
            <a:r>
              <a:t>IoT Core</a:t>
            </a:r>
          </a:p>
        </p:txBody>
      </p:sp>
      <p:sp>
        <p:nvSpPr>
          <p:cNvPr id="20" name="Oval 19"/>
          <p:cNvSpPr/>
          <p:nvPr/>
        </p:nvSpPr>
        <p:spPr>
          <a:xfrm>
            <a:off x="6182691" y="219456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2691" y="22219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6274131" y="4937760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6868491" y="5138928"/>
            <a:ext cx="365760" cy="365760"/>
          </a:xfrm>
          <a:prstGeom prst="chevron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9851" y="5596128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Event</a:t>
            </a:r>
            <a:br/>
            <a:r>
              <a:t>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9851" y="608076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BBF24"/>
                </a:solidFill>
              </a:defRPr>
            </a:pPr>
            <a:r>
              <a:t>MSK</a:t>
            </a:r>
          </a:p>
        </p:txBody>
      </p:sp>
      <p:sp>
        <p:nvSpPr>
          <p:cNvPr id="26" name="Oval 25"/>
          <p:cNvSpPr/>
          <p:nvPr/>
        </p:nvSpPr>
        <p:spPr>
          <a:xfrm>
            <a:off x="6182691" y="484632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2691" y="4873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977640" y="6263640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4572000" y="6464807"/>
            <a:ext cx="365760" cy="365760"/>
          </a:xfrm>
          <a:prstGeom prst="hexagon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6922007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</a:t>
            </a:r>
            <a:br/>
            <a: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740664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9900"/>
                </a:solidFill>
              </a:defRPr>
            </a:pPr>
            <a:r>
              <a:t>Flink</a:t>
            </a:r>
          </a:p>
        </p:txBody>
      </p:sp>
      <p:sp>
        <p:nvSpPr>
          <p:cNvPr id="32" name="Oval 31"/>
          <p:cNvSpPr/>
          <p:nvPr/>
        </p:nvSpPr>
        <p:spPr>
          <a:xfrm>
            <a:off x="3886200" y="6172200"/>
            <a:ext cx="320040" cy="3200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619963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681148" y="4937760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2275508" y="5138928"/>
            <a:ext cx="365760" cy="365760"/>
          </a:xfrm>
          <a:prstGeom prst="homePlat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26868" y="5596128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&amp;</a:t>
            </a:r>
            <a:br/>
            <a: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6868" y="608076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</a:defRPr>
            </a:pPr>
            <a:r>
              <a:t>S3 + Athena</a:t>
            </a:r>
          </a:p>
        </p:txBody>
      </p:sp>
      <p:sp>
        <p:nvSpPr>
          <p:cNvPr id="38" name="Oval 37"/>
          <p:cNvSpPr/>
          <p:nvPr/>
        </p:nvSpPr>
        <p:spPr>
          <a:xfrm>
            <a:off x="1589708" y="4846320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89708" y="48737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5</a:t>
            </a:r>
          </a:p>
        </p:txBody>
      </p:sp>
      <p:sp>
        <p:nvSpPr>
          <p:cNvPr id="40" name="Oval 39"/>
          <p:cNvSpPr/>
          <p:nvPr/>
        </p:nvSpPr>
        <p:spPr>
          <a:xfrm>
            <a:off x="1681148" y="2285999"/>
            <a:ext cx="1554480" cy="155448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art 40"/>
          <p:cNvSpPr/>
          <p:nvPr/>
        </p:nvSpPr>
        <p:spPr>
          <a:xfrm>
            <a:off x="2275508" y="2487168"/>
            <a:ext cx="365760" cy="365760"/>
          </a:xfrm>
          <a:prstGeom prst="hear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26868" y="2944368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Customer</a:t>
            </a:r>
            <a:br/>
            <a:r>
              <a:t>Engagement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26868" y="3428999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</a:defRPr>
            </a:pPr>
            <a:r>
              <a:t>Connect</a:t>
            </a:r>
          </a:p>
        </p:txBody>
      </p:sp>
      <p:sp>
        <p:nvSpPr>
          <p:cNvPr id="44" name="Oval 43"/>
          <p:cNvSpPr/>
          <p:nvPr/>
        </p:nvSpPr>
        <p:spPr>
          <a:xfrm>
            <a:off x="1589708" y="2194559"/>
            <a:ext cx="320040" cy="3200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89708" y="222199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1220"/>
                </a:solidFill>
              </a:defRPr>
            </a:pPr>
            <a: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3840480" y="3474720"/>
            <a:ext cx="1828800" cy="1828800"/>
          </a:xfrm>
          <a:prstGeom prst="ellipse">
            <a:avLst/>
          </a:prstGeom>
          <a:solidFill>
            <a:srgbClr val="0E1220"/>
          </a:solidFill>
          <a:ln w="317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Connected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297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Vehicle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</a:defRPr>
            </a:pPr>
            <a:r>
              <a:t>Platform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1280160"/>
            <a:ext cx="4754880" cy="621792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Platform Elements</a:t>
            </a:r>
          </a:p>
        </p:txBody>
      </p:sp>
      <p:sp>
        <p:nvSpPr>
          <p:cNvPr id="52" name="Oval 51"/>
          <p:cNvSpPr/>
          <p:nvPr/>
        </p:nvSpPr>
        <p:spPr>
          <a:xfrm>
            <a:off x="9555480" y="196596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19842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59" y="1920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Cellular Connectivity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59" y="21762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Managed cellular — vehicle signals to cloud, no carrier contracts</a:t>
            </a:r>
          </a:p>
        </p:txBody>
      </p:sp>
      <p:sp>
        <p:nvSpPr>
          <p:cNvPr id="56" name="Oval 55"/>
          <p:cNvSpPr/>
          <p:nvPr/>
        </p:nvSpPr>
        <p:spPr>
          <a:xfrm>
            <a:off x="9555480" y="265176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59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Device Connectivity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59" y="28620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Bi-directional MQTT — connect and command millions of vehicles</a:t>
            </a:r>
          </a:p>
        </p:txBody>
      </p:sp>
      <p:sp>
        <p:nvSpPr>
          <p:cNvPr id="60" name="Oval 59"/>
          <p:cNvSpPr/>
          <p:nvPr/>
        </p:nvSpPr>
        <p:spPr>
          <a:xfrm>
            <a:off x="9555480" y="333756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55480" y="33558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59" y="3291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Event Streaming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59" y="35478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High-throughput ingestion with durable replay and fan-out</a:t>
            </a:r>
          </a:p>
        </p:txBody>
      </p:sp>
      <p:sp>
        <p:nvSpPr>
          <p:cNvPr id="64" name="Oval 63"/>
          <p:cNvSpPr/>
          <p:nvPr/>
        </p:nvSpPr>
        <p:spPr>
          <a:xfrm>
            <a:off x="9555480" y="4023359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40416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66959" y="3977639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Stream Processing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59" y="42336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Real-time analytics and anomaly detection at any scale</a:t>
            </a:r>
          </a:p>
        </p:txBody>
      </p:sp>
      <p:sp>
        <p:nvSpPr>
          <p:cNvPr id="68" name="Oval 67"/>
          <p:cNvSpPr/>
          <p:nvPr/>
        </p:nvSpPr>
        <p:spPr>
          <a:xfrm>
            <a:off x="9555480" y="4709159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47274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59" y="46634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 &amp; Analytics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59" y="4919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Serverless data lake — query petabytes with standard SQL</a:t>
            </a:r>
          </a:p>
        </p:txBody>
      </p:sp>
      <p:sp>
        <p:nvSpPr>
          <p:cNvPr id="72" name="Oval 71"/>
          <p:cNvSpPr/>
          <p:nvPr/>
        </p:nvSpPr>
        <p:spPr>
          <a:xfrm>
            <a:off x="9555480" y="5394959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55480" y="54132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1220"/>
                </a:solidFill>
              </a:defRPr>
            </a:pPr>
            <a:r>
              <a:t>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66959" y="5349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Customer Engagement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59" y="56052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AI-powered contact center triggered by vehicle events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59" y="6172200"/>
            <a:ext cx="4389120" cy="411480"/>
          </a:xfrm>
          <a:prstGeom prst="roundRect">
            <a:avLst/>
          </a:prstGeom>
          <a:solidFill>
            <a:srgbClr val="0E1220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92640" y="6217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</a:defRPr>
            </a:pPr>
            <a:r>
              <a:t>Observability — Amazon CloudWatch across all layers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